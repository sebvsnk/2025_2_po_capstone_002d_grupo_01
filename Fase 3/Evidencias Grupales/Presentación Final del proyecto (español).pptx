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Arial Bold" panose="020B0604020202020204" charset="0"/>
      <p:regular r:id="rId28"/>
    </p:embeddedFont>
    <p:embeddedFont>
      <p:font typeface="Calibri (MS)" panose="020B0604020202020204" charset="0"/>
      <p:regular r:id="rId29"/>
    </p:embeddedFont>
    <p:embeddedFont>
      <p:font typeface="Calibri (MS) Bold" panose="020B0604020202020204" charset="0"/>
      <p:regular r:id="rId30"/>
    </p:embeddedFont>
    <p:embeddedFont>
      <p:font typeface="Calibri (MS) Bold Italics" panose="020B0604020202020204" charset="0"/>
      <p:regular r:id="rId31"/>
    </p:embeddedFont>
    <p:embeddedFont>
      <p:font typeface="Comic Sans" panose="020B0604020202020204" charset="0"/>
      <p:regular r:id="rId32"/>
    </p:embeddedFont>
    <p:embeddedFont>
      <p:font typeface="Open Sans" panose="020B0606030504020204" pitchFamily="34" charset="0"/>
      <p:regular r:id="rId33"/>
    </p:embeddedFont>
    <p:embeddedFont>
      <p:font typeface="Open Sans Bold" panose="020B0806030504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48" y="4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2" d="100"/>
        <a:sy n="102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pn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7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9" Type="http://schemas.openxmlformats.org/officeDocument/2006/relationships/image" Target="../media/image3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svg"/><Relationship Id="rId3" Type="http://schemas.openxmlformats.org/officeDocument/2006/relationships/image" Target="../media/image7.png"/><Relationship Id="rId7" Type="http://schemas.openxmlformats.org/officeDocument/2006/relationships/image" Target="../media/image40.sv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svg"/><Relationship Id="rId5" Type="http://schemas.openxmlformats.org/officeDocument/2006/relationships/image" Target="../media/image9.png"/><Relationship Id="rId15" Type="http://schemas.openxmlformats.org/officeDocument/2006/relationships/image" Target="../media/image48.svg"/><Relationship Id="rId10" Type="http://schemas.openxmlformats.org/officeDocument/2006/relationships/image" Target="../media/image43.png"/><Relationship Id="rId4" Type="http://schemas.openxmlformats.org/officeDocument/2006/relationships/image" Target="../media/image8.svg"/><Relationship Id="rId9" Type="http://schemas.openxmlformats.org/officeDocument/2006/relationships/image" Target="../media/image42.svg"/><Relationship Id="rId1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svg"/><Relationship Id="rId3" Type="http://schemas.openxmlformats.org/officeDocument/2006/relationships/image" Target="../media/image7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17" Type="http://schemas.openxmlformats.org/officeDocument/2006/relationships/image" Target="../media/image63.svg"/><Relationship Id="rId25" Type="http://schemas.openxmlformats.org/officeDocument/2006/relationships/image" Target="../media/image7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svg"/><Relationship Id="rId5" Type="http://schemas.openxmlformats.org/officeDocument/2006/relationships/image" Target="../media/image9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8.svg"/><Relationship Id="rId9" Type="http://schemas.openxmlformats.org/officeDocument/2006/relationships/image" Target="../media/image55.png"/><Relationship Id="rId14" Type="http://schemas.openxmlformats.org/officeDocument/2006/relationships/image" Target="../media/image60.svg"/><Relationship Id="rId22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35235" y="-717769"/>
            <a:ext cx="18308271" cy="11003867"/>
            <a:chOff x="0" y="0"/>
            <a:chExt cx="24411027" cy="146718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1051" cy="14671802"/>
            </a:xfrm>
            <a:custGeom>
              <a:avLst/>
              <a:gdLst/>
              <a:ahLst/>
              <a:cxnLst/>
              <a:rect l="l" t="t" r="r" b="b"/>
              <a:pathLst>
                <a:path w="24411051" h="14671802">
                  <a:moveTo>
                    <a:pt x="0" y="0"/>
                  </a:moveTo>
                  <a:lnTo>
                    <a:pt x="24411051" y="0"/>
                  </a:lnTo>
                  <a:lnTo>
                    <a:pt x="24411051" y="14671802"/>
                  </a:lnTo>
                  <a:lnTo>
                    <a:pt x="0" y="1467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7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0"/>
            <a:ext cx="18285111" cy="10286098"/>
            <a:chOff x="0" y="0"/>
            <a:chExt cx="24380148" cy="137147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189" cy="13714857"/>
            </a:xfrm>
            <a:custGeom>
              <a:avLst/>
              <a:gdLst/>
              <a:ahLst/>
              <a:cxnLst/>
              <a:rect l="l" t="t" r="r" b="b"/>
              <a:pathLst>
                <a:path w="24380189" h="13714857">
                  <a:moveTo>
                    <a:pt x="0" y="0"/>
                  </a:moveTo>
                  <a:lnTo>
                    <a:pt x="24380189" y="0"/>
                  </a:lnTo>
                  <a:lnTo>
                    <a:pt x="24380189" y="13714857"/>
                  </a:lnTo>
                  <a:lnTo>
                    <a:pt x="0" y="1371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47" t="-99167" r="-2418" b="-58953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7617834" y="9578604"/>
            <a:ext cx="3542567" cy="305522"/>
          </a:xfrm>
          <a:custGeom>
            <a:avLst/>
            <a:gdLst/>
            <a:ahLst/>
            <a:cxnLst/>
            <a:rect l="l" t="t" r="r" b="b"/>
            <a:pathLst>
              <a:path w="3542567" h="305522">
                <a:moveTo>
                  <a:pt x="0" y="0"/>
                </a:moveTo>
                <a:lnTo>
                  <a:pt x="3542568" y="0"/>
                </a:lnTo>
                <a:lnTo>
                  <a:pt x="3542568" y="305521"/>
                </a:lnTo>
                <a:lnTo>
                  <a:pt x="0" y="305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/>
          <p:nvPr/>
        </p:nvGrpSpPr>
        <p:grpSpPr>
          <a:xfrm>
            <a:off x="4631981" y="7525390"/>
            <a:ext cx="9727033" cy="48514"/>
            <a:chOff x="0" y="0"/>
            <a:chExt cx="12969377" cy="64685"/>
          </a:xfrm>
        </p:grpSpPr>
        <p:sp>
          <p:nvSpPr>
            <p:cNvPr id="8" name="Freeform 8"/>
            <p:cNvSpPr/>
            <p:nvPr/>
          </p:nvSpPr>
          <p:spPr>
            <a:xfrm>
              <a:off x="0" y="-127"/>
              <a:ext cx="12968986" cy="64770"/>
            </a:xfrm>
            <a:custGeom>
              <a:avLst/>
              <a:gdLst/>
              <a:ahLst/>
              <a:cxnLst/>
              <a:rect l="l" t="t" r="r" b="b"/>
              <a:pathLst>
                <a:path w="12968986" h="64770">
                  <a:moveTo>
                    <a:pt x="12936601" y="127"/>
                  </a:moveTo>
                  <a:lnTo>
                    <a:pt x="32258" y="127"/>
                  </a:lnTo>
                  <a:lnTo>
                    <a:pt x="19685" y="2667"/>
                  </a:lnTo>
                  <a:lnTo>
                    <a:pt x="9525" y="9652"/>
                  </a:lnTo>
                  <a:lnTo>
                    <a:pt x="2540" y="19812"/>
                  </a:lnTo>
                  <a:lnTo>
                    <a:pt x="0" y="32385"/>
                  </a:lnTo>
                  <a:lnTo>
                    <a:pt x="2540" y="44958"/>
                  </a:lnTo>
                  <a:lnTo>
                    <a:pt x="9525" y="55245"/>
                  </a:lnTo>
                  <a:lnTo>
                    <a:pt x="19812" y="62230"/>
                  </a:lnTo>
                  <a:lnTo>
                    <a:pt x="32385" y="64770"/>
                  </a:lnTo>
                  <a:lnTo>
                    <a:pt x="12936601" y="64770"/>
                  </a:lnTo>
                  <a:lnTo>
                    <a:pt x="12949174" y="62230"/>
                  </a:lnTo>
                  <a:lnTo>
                    <a:pt x="12959461" y="55245"/>
                  </a:lnTo>
                  <a:lnTo>
                    <a:pt x="12966446" y="44958"/>
                  </a:lnTo>
                  <a:lnTo>
                    <a:pt x="12968986" y="32385"/>
                  </a:lnTo>
                  <a:lnTo>
                    <a:pt x="12966446" y="19812"/>
                  </a:lnTo>
                  <a:lnTo>
                    <a:pt x="12959461" y="9525"/>
                  </a:lnTo>
                  <a:lnTo>
                    <a:pt x="12949174" y="2540"/>
                  </a:lnTo>
                  <a:lnTo>
                    <a:pt x="1293660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31981" y="6574330"/>
            <a:ext cx="9727033" cy="951060"/>
            <a:chOff x="0" y="0"/>
            <a:chExt cx="12969377" cy="12680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968859" cy="1267841"/>
            </a:xfrm>
            <a:custGeom>
              <a:avLst/>
              <a:gdLst/>
              <a:ahLst/>
              <a:cxnLst/>
              <a:rect l="l" t="t" r="r" b="b"/>
              <a:pathLst>
                <a:path w="12968859" h="1267841">
                  <a:moveTo>
                    <a:pt x="12968859" y="0"/>
                  </a:moveTo>
                  <a:lnTo>
                    <a:pt x="0" y="0"/>
                  </a:lnTo>
                  <a:lnTo>
                    <a:pt x="0" y="1267841"/>
                  </a:lnTo>
                  <a:lnTo>
                    <a:pt x="12968859" y="1267841"/>
                  </a:lnTo>
                  <a:lnTo>
                    <a:pt x="12968859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839035" y="8111554"/>
            <a:ext cx="5370687" cy="1328438"/>
            <a:chOff x="0" y="0"/>
            <a:chExt cx="7160915" cy="177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60895" cy="1771269"/>
            </a:xfrm>
            <a:custGeom>
              <a:avLst/>
              <a:gdLst/>
              <a:ahLst/>
              <a:cxnLst/>
              <a:rect l="l" t="t" r="r" b="b"/>
              <a:pathLst>
                <a:path w="7160895" h="1771269">
                  <a:moveTo>
                    <a:pt x="0" y="0"/>
                  </a:moveTo>
                  <a:lnTo>
                    <a:pt x="7160895" y="0"/>
                  </a:lnTo>
                  <a:lnTo>
                    <a:pt x="7160895" y="1771269"/>
                  </a:lnTo>
                  <a:lnTo>
                    <a:pt x="0" y="17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171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688113" y="6607054"/>
            <a:ext cx="3516673" cy="81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4"/>
              </a:lnSpc>
            </a:pPr>
            <a:r>
              <a:rPr lang="es-CL" sz="4820" b="1" i="1" noProof="0" dirty="0">
                <a:solidFill>
                  <a:srgbClr val="000000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Proyecto APT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25" y="9537670"/>
            <a:ext cx="6405269" cy="601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1"/>
              </a:lnSpc>
            </a:pPr>
            <a:r>
              <a:rPr lang="es-CL" sz="2000" noProof="0" dirty="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Docente</a:t>
            </a:r>
          </a:p>
          <a:p>
            <a:pPr algn="l">
              <a:lnSpc>
                <a:spcPts val="2761"/>
              </a:lnSpc>
            </a:pPr>
            <a:r>
              <a:rPr lang="es-CL" sz="2000" noProof="0" dirty="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FABIAN ALEJANDRO ALVAREZ MONTENEGRO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93318" y="8823605"/>
            <a:ext cx="5689567" cy="129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9"/>
              </a:lnSpc>
            </a:pPr>
            <a:endParaRPr lang="es-CL" noProof="0" dirty="0"/>
          </a:p>
          <a:p>
            <a:pPr algn="r">
              <a:lnSpc>
                <a:spcPts val="2619"/>
              </a:lnSpc>
            </a:pPr>
            <a:r>
              <a:rPr lang="es-CL" sz="2182" noProof="0" dirty="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Fecha: 04 de Diciembre de 2025	</a:t>
            </a:r>
          </a:p>
          <a:p>
            <a:pPr algn="r">
              <a:lnSpc>
                <a:spcPts val="2619"/>
              </a:lnSpc>
            </a:pPr>
            <a:r>
              <a:rPr lang="es-CL" sz="2182" noProof="0" dirty="0">
                <a:solidFill>
                  <a:srgbClr val="FFFFFF"/>
                </a:solidFill>
                <a:latin typeface="Comic Sans"/>
                <a:ea typeface="Comic Sans"/>
                <a:cs typeface="Comic Sans"/>
                <a:sym typeface="Comic Sans"/>
              </a:rPr>
              <a:t> Escuela de Informática y Telecomunicaciones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387017" y="-166821"/>
            <a:ext cx="4244964" cy="1195521"/>
            <a:chOff x="0" y="0"/>
            <a:chExt cx="5659953" cy="159402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660009" cy="1593977"/>
            </a:xfrm>
            <a:custGeom>
              <a:avLst/>
              <a:gdLst/>
              <a:ahLst/>
              <a:cxnLst/>
              <a:rect l="l" t="t" r="r" b="b"/>
              <a:pathLst>
                <a:path w="5660009" h="1593977">
                  <a:moveTo>
                    <a:pt x="0" y="0"/>
                  </a:moveTo>
                  <a:lnTo>
                    <a:pt x="5660009" y="0"/>
                  </a:lnTo>
                  <a:lnTo>
                    <a:pt x="5660009" y="1593977"/>
                  </a:lnTo>
                  <a:lnTo>
                    <a:pt x="0" y="1593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148590" r="-10912" b="-145246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9581316" y="3040939"/>
            <a:ext cx="1076891" cy="1076891"/>
          </a:xfrm>
          <a:custGeom>
            <a:avLst/>
            <a:gdLst/>
            <a:ahLst/>
            <a:cxnLst/>
            <a:rect l="l" t="t" r="r" b="b"/>
            <a:pathLst>
              <a:path w="1076891" h="1076891">
                <a:moveTo>
                  <a:pt x="0" y="0"/>
                </a:moveTo>
                <a:lnTo>
                  <a:pt x="1076891" y="0"/>
                </a:lnTo>
                <a:lnTo>
                  <a:pt x="1076891" y="1076890"/>
                </a:lnTo>
                <a:lnTo>
                  <a:pt x="0" y="1076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9581316" y="4222918"/>
            <a:ext cx="1076891" cy="1076891"/>
          </a:xfrm>
          <a:custGeom>
            <a:avLst/>
            <a:gdLst/>
            <a:ahLst/>
            <a:cxnLst/>
            <a:rect l="l" t="t" r="r" b="b"/>
            <a:pathLst>
              <a:path w="1076891" h="1076891">
                <a:moveTo>
                  <a:pt x="0" y="0"/>
                </a:moveTo>
                <a:lnTo>
                  <a:pt x="1076891" y="0"/>
                </a:lnTo>
                <a:lnTo>
                  <a:pt x="1076891" y="1076891"/>
                </a:lnTo>
                <a:lnTo>
                  <a:pt x="0" y="10768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Freeform 11"/>
          <p:cNvSpPr/>
          <p:nvPr/>
        </p:nvSpPr>
        <p:spPr>
          <a:xfrm>
            <a:off x="9589803" y="5377974"/>
            <a:ext cx="1068404" cy="1068404"/>
          </a:xfrm>
          <a:custGeom>
            <a:avLst/>
            <a:gdLst/>
            <a:ahLst/>
            <a:cxnLst/>
            <a:rect l="l" t="t" r="r" b="b"/>
            <a:pathLst>
              <a:path w="1068404" h="1068404">
                <a:moveTo>
                  <a:pt x="0" y="0"/>
                </a:moveTo>
                <a:lnTo>
                  <a:pt x="1068404" y="0"/>
                </a:lnTo>
                <a:lnTo>
                  <a:pt x="1068404" y="1068403"/>
                </a:lnTo>
                <a:lnTo>
                  <a:pt x="0" y="10684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Freeform 12"/>
          <p:cNvSpPr/>
          <p:nvPr/>
        </p:nvSpPr>
        <p:spPr>
          <a:xfrm>
            <a:off x="9589803" y="6553124"/>
            <a:ext cx="1068404" cy="1068404"/>
          </a:xfrm>
          <a:custGeom>
            <a:avLst/>
            <a:gdLst/>
            <a:ahLst/>
            <a:cxnLst/>
            <a:rect l="l" t="t" r="r" b="b"/>
            <a:pathLst>
              <a:path w="1068404" h="1068404">
                <a:moveTo>
                  <a:pt x="0" y="0"/>
                </a:moveTo>
                <a:lnTo>
                  <a:pt x="1068404" y="0"/>
                </a:lnTo>
                <a:lnTo>
                  <a:pt x="1068404" y="1068404"/>
                </a:lnTo>
                <a:lnTo>
                  <a:pt x="0" y="10684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Freeform 13"/>
          <p:cNvSpPr/>
          <p:nvPr/>
        </p:nvSpPr>
        <p:spPr>
          <a:xfrm>
            <a:off x="9581316" y="7697775"/>
            <a:ext cx="1076891" cy="1076891"/>
          </a:xfrm>
          <a:custGeom>
            <a:avLst/>
            <a:gdLst/>
            <a:ahLst/>
            <a:cxnLst/>
            <a:rect l="l" t="t" r="r" b="b"/>
            <a:pathLst>
              <a:path w="1076891" h="1076891">
                <a:moveTo>
                  <a:pt x="0" y="0"/>
                </a:moveTo>
                <a:lnTo>
                  <a:pt x="1076891" y="0"/>
                </a:lnTo>
                <a:lnTo>
                  <a:pt x="1076891" y="1076891"/>
                </a:lnTo>
                <a:lnTo>
                  <a:pt x="0" y="10768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Box 14"/>
          <p:cNvSpPr txBox="1"/>
          <p:nvPr/>
        </p:nvSpPr>
        <p:spPr>
          <a:xfrm>
            <a:off x="965295" y="1023628"/>
            <a:ext cx="2517614" cy="52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Introducción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18816" y="5770764"/>
            <a:ext cx="6137936" cy="1825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6"/>
              </a:lnSpc>
              <a:spcBef>
                <a:spcPct val="0"/>
              </a:spcBef>
            </a:pPr>
            <a:r>
              <a:rPr lang="es-CL" sz="2619" noProof="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Este proyecto aborda la modernización de la gestión del taller Santa Marta de PepsiCo, reemplazando manualidad por un Sistema Web.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1377" y="3646460"/>
            <a:ext cx="7335418" cy="1826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64"/>
              </a:lnSpc>
              <a:spcBef>
                <a:spcPct val="0"/>
              </a:spcBef>
            </a:pPr>
            <a:r>
              <a:rPr lang="es-CL" sz="5260" b="1" noProof="0" dirty="0">
                <a:solidFill>
                  <a:srgbClr val="1C305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Digitalización Centro Santa Marta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49516" y="3125746"/>
            <a:ext cx="6280530" cy="45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  <a:spcBef>
                <a:spcPct val="0"/>
              </a:spcBef>
            </a:pPr>
            <a:r>
              <a:rPr lang="es-CL" sz="2621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Descripción del origen de la problemática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49516" y="3522528"/>
            <a:ext cx="6280530" cy="34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  <a:spcBef>
                <a:spcPct val="0"/>
              </a:spcBef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Problemática y Propuesta Solución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49516" y="4240019"/>
            <a:ext cx="6280530" cy="45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  <a:spcBef>
                <a:spcPct val="0"/>
              </a:spcBef>
            </a:pPr>
            <a:r>
              <a:rPr lang="es-CL" sz="2621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749516" y="4636801"/>
            <a:ext cx="6280530" cy="34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  <a:spcBef>
                <a:spcPct val="0"/>
              </a:spcBef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General y específicos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49516" y="7782583"/>
            <a:ext cx="6280530" cy="45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  <a:spcBef>
                <a:spcPct val="0"/>
              </a:spcBef>
            </a:pPr>
            <a:r>
              <a:rPr lang="es-CL" sz="2621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Resultado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49516" y="8188596"/>
            <a:ext cx="6280530" cy="390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  <a:spcBef>
                <a:spcPct val="0"/>
              </a:spcBef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Demo Proyecto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749516" y="5443126"/>
            <a:ext cx="6280530" cy="45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  <a:spcBef>
                <a:spcPct val="0"/>
              </a:spcBef>
            </a:pPr>
            <a:r>
              <a:rPr lang="es-CL" sz="2621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Alcance y Metodología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749516" y="5839908"/>
            <a:ext cx="6280530" cy="34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  <a:spcBef>
                <a:spcPct val="0"/>
              </a:spcBef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Limitaciones, alcance, metodología y cronograma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749516" y="6554736"/>
            <a:ext cx="6280530" cy="45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  <a:spcBef>
                <a:spcPct val="0"/>
              </a:spcBef>
            </a:pPr>
            <a:r>
              <a:rPr lang="es-CL" sz="2621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Arquitectura y Pruebas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49516" y="6951518"/>
            <a:ext cx="6280530" cy="390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  <a:spcBef>
                <a:spcPct val="0"/>
              </a:spcBef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Topología, Modelo de Datos , Tecnologías y Pruebas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1984576" y="9618618"/>
            <a:ext cx="2152205" cy="185613"/>
          </a:xfrm>
          <a:custGeom>
            <a:avLst/>
            <a:gdLst/>
            <a:ahLst/>
            <a:cxnLst/>
            <a:rect l="l" t="t" r="r" b="b"/>
            <a:pathLst>
              <a:path w="2152205" h="185613">
                <a:moveTo>
                  <a:pt x="0" y="0"/>
                </a:moveTo>
                <a:lnTo>
                  <a:pt x="2152205" y="0"/>
                </a:lnTo>
                <a:lnTo>
                  <a:pt x="2152205" y="185613"/>
                </a:lnTo>
                <a:lnTo>
                  <a:pt x="0" y="185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57515" y="5056400"/>
            <a:ext cx="798368" cy="66558"/>
            <a:chOff x="0" y="0"/>
            <a:chExt cx="934547" cy="779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33831" cy="77597"/>
            </a:xfrm>
            <a:custGeom>
              <a:avLst/>
              <a:gdLst/>
              <a:ahLst/>
              <a:cxnLst/>
              <a:rect l="l" t="t" r="r" b="b"/>
              <a:pathLst>
                <a:path w="933831" h="77597">
                  <a:moveTo>
                    <a:pt x="933831" y="0"/>
                  </a:moveTo>
                  <a:lnTo>
                    <a:pt x="0" y="0"/>
                  </a:lnTo>
                  <a:lnTo>
                    <a:pt x="0" y="30861"/>
                  </a:lnTo>
                  <a:lnTo>
                    <a:pt x="0" y="46609"/>
                  </a:lnTo>
                  <a:lnTo>
                    <a:pt x="0" y="77597"/>
                  </a:lnTo>
                  <a:lnTo>
                    <a:pt x="933831" y="77597"/>
                  </a:lnTo>
                  <a:lnTo>
                    <a:pt x="933831" y="46609"/>
                  </a:lnTo>
                  <a:lnTo>
                    <a:pt x="933831" y="30861"/>
                  </a:lnTo>
                  <a:lnTo>
                    <a:pt x="933831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584920" y="5065807"/>
            <a:ext cx="798368" cy="66558"/>
            <a:chOff x="0" y="0"/>
            <a:chExt cx="934547" cy="7791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33831" cy="77597"/>
            </a:xfrm>
            <a:custGeom>
              <a:avLst/>
              <a:gdLst/>
              <a:ahLst/>
              <a:cxnLst/>
              <a:rect l="l" t="t" r="r" b="b"/>
              <a:pathLst>
                <a:path w="933831" h="77597">
                  <a:moveTo>
                    <a:pt x="933831" y="0"/>
                  </a:moveTo>
                  <a:lnTo>
                    <a:pt x="0" y="0"/>
                  </a:lnTo>
                  <a:lnTo>
                    <a:pt x="0" y="30861"/>
                  </a:lnTo>
                  <a:lnTo>
                    <a:pt x="0" y="46609"/>
                  </a:lnTo>
                  <a:lnTo>
                    <a:pt x="0" y="77597"/>
                  </a:lnTo>
                  <a:lnTo>
                    <a:pt x="933831" y="77597"/>
                  </a:lnTo>
                  <a:lnTo>
                    <a:pt x="933831" y="46609"/>
                  </a:lnTo>
                  <a:lnTo>
                    <a:pt x="933831" y="30861"/>
                  </a:lnTo>
                  <a:lnTo>
                    <a:pt x="933831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3688" y="1080340"/>
            <a:ext cx="2446023" cy="2765654"/>
            <a:chOff x="0" y="0"/>
            <a:chExt cx="4368250" cy="49390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68292" cy="4939157"/>
            </a:xfrm>
            <a:custGeom>
              <a:avLst/>
              <a:gdLst/>
              <a:ahLst/>
              <a:cxnLst/>
              <a:rect l="l" t="t" r="r" b="b"/>
              <a:pathLst>
                <a:path w="4368292" h="4939157">
                  <a:moveTo>
                    <a:pt x="0" y="436880"/>
                  </a:moveTo>
                  <a:cubicBezTo>
                    <a:pt x="0" y="195580"/>
                    <a:pt x="195580" y="0"/>
                    <a:pt x="436880" y="0"/>
                  </a:cubicBezTo>
                  <a:lnTo>
                    <a:pt x="3931412" y="0"/>
                  </a:lnTo>
                  <a:cubicBezTo>
                    <a:pt x="4172712" y="0"/>
                    <a:pt x="4368292" y="195580"/>
                    <a:pt x="4368292" y="436880"/>
                  </a:cubicBezTo>
                  <a:lnTo>
                    <a:pt x="4368292" y="4502277"/>
                  </a:lnTo>
                  <a:cubicBezTo>
                    <a:pt x="4368292" y="4743577"/>
                    <a:pt x="4172712" y="4939157"/>
                    <a:pt x="3931412" y="4939157"/>
                  </a:cubicBezTo>
                  <a:lnTo>
                    <a:pt x="436880" y="4939157"/>
                  </a:lnTo>
                  <a:cubicBezTo>
                    <a:pt x="195580" y="4939157"/>
                    <a:pt x="0" y="4743577"/>
                    <a:pt x="0" y="4502277"/>
                  </a:cubicBezTo>
                  <a:close/>
                </a:path>
              </a:pathLst>
            </a:custGeom>
            <a:solidFill>
              <a:srgbClr val="C3D4EB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15" name="Freeform 15"/>
          <p:cNvSpPr/>
          <p:nvPr/>
        </p:nvSpPr>
        <p:spPr>
          <a:xfrm>
            <a:off x="5494626" y="1532436"/>
            <a:ext cx="2124146" cy="2124146"/>
          </a:xfrm>
          <a:custGeom>
            <a:avLst/>
            <a:gdLst/>
            <a:ahLst/>
            <a:cxnLst/>
            <a:rect l="l" t="t" r="r" b="b"/>
            <a:pathLst>
              <a:path w="2124146" h="2124146">
                <a:moveTo>
                  <a:pt x="0" y="0"/>
                </a:moveTo>
                <a:lnTo>
                  <a:pt x="2124147" y="0"/>
                </a:lnTo>
                <a:lnTo>
                  <a:pt x="2124147" y="2124146"/>
                </a:lnTo>
                <a:lnTo>
                  <a:pt x="0" y="21241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16" name="Group 16"/>
          <p:cNvGrpSpPr/>
          <p:nvPr/>
        </p:nvGrpSpPr>
        <p:grpSpPr>
          <a:xfrm>
            <a:off x="9934904" y="1028700"/>
            <a:ext cx="2446023" cy="2765654"/>
            <a:chOff x="0" y="0"/>
            <a:chExt cx="4368250" cy="493906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368292" cy="4939157"/>
            </a:xfrm>
            <a:custGeom>
              <a:avLst/>
              <a:gdLst/>
              <a:ahLst/>
              <a:cxnLst/>
              <a:rect l="l" t="t" r="r" b="b"/>
              <a:pathLst>
                <a:path w="4368292" h="4939157">
                  <a:moveTo>
                    <a:pt x="0" y="436880"/>
                  </a:moveTo>
                  <a:cubicBezTo>
                    <a:pt x="0" y="195580"/>
                    <a:pt x="195580" y="0"/>
                    <a:pt x="436880" y="0"/>
                  </a:cubicBezTo>
                  <a:lnTo>
                    <a:pt x="3931412" y="0"/>
                  </a:lnTo>
                  <a:cubicBezTo>
                    <a:pt x="4172712" y="0"/>
                    <a:pt x="4368292" y="195580"/>
                    <a:pt x="4368292" y="436880"/>
                  </a:cubicBezTo>
                  <a:lnTo>
                    <a:pt x="4368292" y="4502277"/>
                  </a:lnTo>
                  <a:cubicBezTo>
                    <a:pt x="4368292" y="4743577"/>
                    <a:pt x="4172712" y="4939157"/>
                    <a:pt x="3931412" y="4939157"/>
                  </a:cubicBezTo>
                  <a:lnTo>
                    <a:pt x="436880" y="4939157"/>
                  </a:lnTo>
                  <a:cubicBezTo>
                    <a:pt x="195580" y="4939157"/>
                    <a:pt x="0" y="4743577"/>
                    <a:pt x="0" y="4502277"/>
                  </a:cubicBezTo>
                  <a:close/>
                </a:path>
              </a:pathLst>
            </a:custGeom>
            <a:solidFill>
              <a:srgbClr val="C3D4EB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0095842" y="1480796"/>
            <a:ext cx="2124146" cy="2124146"/>
          </a:xfrm>
          <a:custGeom>
            <a:avLst/>
            <a:gdLst/>
            <a:ahLst/>
            <a:cxnLst/>
            <a:rect l="l" t="t" r="r" b="b"/>
            <a:pathLst>
              <a:path w="2124146" h="2124146">
                <a:moveTo>
                  <a:pt x="0" y="0"/>
                </a:moveTo>
                <a:lnTo>
                  <a:pt x="2124146" y="0"/>
                </a:lnTo>
                <a:lnTo>
                  <a:pt x="2124146" y="2124146"/>
                </a:lnTo>
                <a:lnTo>
                  <a:pt x="0" y="21241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TextBox 19"/>
          <p:cNvSpPr txBox="1"/>
          <p:nvPr/>
        </p:nvSpPr>
        <p:spPr>
          <a:xfrm>
            <a:off x="47223" y="818340"/>
            <a:ext cx="4499086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8"/>
              </a:lnSpc>
            </a:pPr>
            <a:r>
              <a:rPr lang="es-CL" sz="2715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Integrantes del </a:t>
            </a:r>
          </a:p>
          <a:p>
            <a:pPr algn="ctr">
              <a:lnSpc>
                <a:spcPts val="3258"/>
              </a:lnSpc>
            </a:pPr>
            <a:r>
              <a:rPr lang="es-CL" sz="2715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 y Asignación de Roles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92936" y="4369414"/>
            <a:ext cx="3428369" cy="474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7"/>
              </a:lnSpc>
            </a:pPr>
            <a:r>
              <a:rPr lang="es-CL" sz="3056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Sebastián Miranda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9734" y="4369414"/>
            <a:ext cx="3816363" cy="474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7"/>
              </a:lnSpc>
            </a:pPr>
            <a:r>
              <a:rPr lang="es-CL" sz="3056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Guillermo Almendra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21481" y="5337121"/>
            <a:ext cx="5313204" cy="4080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</a:pPr>
            <a:r>
              <a:rPr lang="es-CL" sz="2304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Líder de Proyecto / Desarrollador Full </a:t>
            </a:r>
            <a:r>
              <a:rPr lang="es-CL" sz="2304" noProof="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Stack</a:t>
            </a:r>
            <a:endParaRPr lang="es-CL" sz="2304" noProof="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23758" lvl="1" indent="-211879" algn="l">
              <a:lnSpc>
                <a:spcPts val="2355"/>
              </a:lnSpc>
              <a:buFont typeface="Arial"/>
              <a:buChar char="•"/>
            </a:pPr>
            <a:r>
              <a:rPr lang="es-CL" sz="1962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Levantamiento de requerimientos con el cliente y definición de casos de uso.</a:t>
            </a:r>
          </a:p>
          <a:p>
            <a:pPr marL="423758" lvl="1" indent="-211879" algn="l">
              <a:lnSpc>
                <a:spcPts val="2355"/>
              </a:lnSpc>
              <a:buFont typeface="Arial"/>
              <a:buChar char="•"/>
            </a:pPr>
            <a:r>
              <a:rPr lang="es-CL" sz="1962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Elaboración de documentación según metodología tradicional.</a:t>
            </a:r>
          </a:p>
          <a:p>
            <a:pPr marL="423758" lvl="1" indent="-211879" algn="l">
              <a:lnSpc>
                <a:spcPts val="2355"/>
              </a:lnSpc>
              <a:buFont typeface="Arial"/>
              <a:buChar char="•"/>
            </a:pPr>
            <a:r>
              <a:rPr lang="es-CL" sz="1962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Desarrollo del </a:t>
            </a:r>
            <a:r>
              <a:rPr lang="es-CL" sz="1962" noProof="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</a:t>
            </a:r>
            <a:r>
              <a:rPr lang="es-CL" sz="1962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marL="423758" lvl="1" indent="-211879" algn="l">
              <a:lnSpc>
                <a:spcPts val="2355"/>
              </a:lnSpc>
              <a:buFont typeface="Arial"/>
              <a:buChar char="•"/>
            </a:pPr>
            <a:r>
              <a:rPr lang="es-CL" sz="1962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Desarrollo del </a:t>
            </a:r>
            <a:r>
              <a:rPr lang="es-CL" sz="1962" noProof="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</a:t>
            </a:r>
            <a:r>
              <a:rPr lang="es-CL" sz="1962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en Django REST </a:t>
            </a:r>
          </a:p>
          <a:p>
            <a:pPr marL="423758" lvl="1" indent="-211879" algn="l">
              <a:lnSpc>
                <a:spcPts val="2355"/>
              </a:lnSpc>
              <a:buFont typeface="Arial"/>
              <a:buChar char="•"/>
            </a:pPr>
            <a:r>
              <a:rPr lang="es-CL" sz="1962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Elaboración de documentación técnica de </a:t>
            </a:r>
            <a:r>
              <a:rPr lang="es-CL" sz="1962" noProof="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</a:t>
            </a:r>
            <a:r>
              <a:rPr lang="es-CL" sz="1962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y base de datos.</a:t>
            </a:r>
          </a:p>
          <a:p>
            <a:pPr marL="423758" lvl="1" indent="-211879" algn="l">
              <a:lnSpc>
                <a:spcPts val="2355"/>
              </a:lnSpc>
              <a:buFont typeface="Arial"/>
              <a:buChar char="•"/>
            </a:pPr>
            <a:r>
              <a:rPr lang="es-CL" sz="1962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Elaboración de documentación funcional y de cierre: manuales de usuario, plan de pruebas e informe final</a:t>
            </a:r>
          </a:p>
          <a:p>
            <a:pPr algn="l">
              <a:lnSpc>
                <a:spcPts val="2765"/>
              </a:lnSpc>
            </a:pPr>
            <a:endParaRPr lang="es-CL" sz="1962" noProof="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363552" y="5292203"/>
            <a:ext cx="5202967" cy="341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7"/>
              </a:lnSpc>
            </a:pPr>
            <a:r>
              <a:rPr lang="es-CL" sz="2256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Desarrollador Full </a:t>
            </a:r>
            <a:r>
              <a:rPr lang="es-CL" sz="2256" noProof="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Stack</a:t>
            </a:r>
            <a:r>
              <a:rPr lang="es-CL" sz="2256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/ Análisis y Diseño</a:t>
            </a:r>
          </a:p>
          <a:p>
            <a:pPr marL="422981" lvl="1" indent="-211491" algn="l">
              <a:lnSpc>
                <a:spcPts val="2350"/>
              </a:lnSpc>
              <a:buFont typeface="Arial"/>
              <a:buChar char="•"/>
            </a:pPr>
            <a:r>
              <a:rPr lang="es-CL" sz="195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Diseño y modelamiento de la base de datos.</a:t>
            </a:r>
          </a:p>
          <a:p>
            <a:pPr marL="422981" lvl="1" indent="-211491" algn="l">
              <a:lnSpc>
                <a:spcPts val="2350"/>
              </a:lnSpc>
              <a:buFont typeface="Arial"/>
              <a:buChar char="•"/>
            </a:pPr>
            <a:r>
              <a:rPr lang="es-CL" sz="195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Desarrollo del </a:t>
            </a:r>
            <a:r>
              <a:rPr lang="es-CL" sz="1959" noProof="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</a:t>
            </a:r>
            <a:endParaRPr lang="es-CL" sz="1959" noProof="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22981" lvl="1" indent="-211491" algn="l">
              <a:lnSpc>
                <a:spcPts val="2350"/>
              </a:lnSpc>
              <a:buFont typeface="Arial"/>
              <a:buChar char="•"/>
            </a:pPr>
            <a:r>
              <a:rPr lang="es-CL" sz="195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Diseño de la arquitectura de software y de los flujos de usuario.</a:t>
            </a:r>
          </a:p>
          <a:p>
            <a:pPr marL="422981" lvl="1" indent="-211491" algn="l">
              <a:lnSpc>
                <a:spcPts val="2350"/>
              </a:lnSpc>
              <a:buFont typeface="Arial"/>
              <a:buChar char="•"/>
            </a:pPr>
            <a:r>
              <a:rPr lang="es-CL" sz="195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Integración </a:t>
            </a:r>
            <a:r>
              <a:rPr lang="es-CL" sz="1959" noProof="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</a:t>
            </a:r>
            <a:r>
              <a:rPr lang="es-CL" sz="195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–</a:t>
            </a:r>
            <a:r>
              <a:rPr lang="es-CL" sz="1959" noProof="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</a:t>
            </a:r>
            <a:r>
              <a:rPr lang="es-CL" sz="195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y validaciones de negocio en la interfaz.</a:t>
            </a:r>
          </a:p>
          <a:p>
            <a:pPr marL="422981" lvl="1" indent="-211491" algn="l">
              <a:lnSpc>
                <a:spcPts val="2350"/>
              </a:lnSpc>
              <a:buFont typeface="Arial"/>
              <a:buChar char="•"/>
            </a:pPr>
            <a:r>
              <a:rPr lang="es-CL" sz="195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Desarrollo del </a:t>
            </a:r>
            <a:r>
              <a:rPr lang="es-CL" sz="1959" noProof="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</a:t>
            </a:r>
            <a:r>
              <a:rPr lang="es-CL" sz="195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en Django REST</a:t>
            </a:r>
          </a:p>
          <a:p>
            <a:pPr marL="422981" lvl="1" indent="-211491" algn="l">
              <a:lnSpc>
                <a:spcPts val="2350"/>
              </a:lnSpc>
              <a:buFont typeface="Arial"/>
              <a:buChar char="•"/>
            </a:pPr>
            <a:r>
              <a:rPr lang="es-CL" sz="195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Elaboración de documentación funcional y de cierre: manuales de usuario, plan de pruebas e informe 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708153"/>
            <a:ext cx="4482759" cy="1152020"/>
            <a:chOff x="0" y="0"/>
            <a:chExt cx="5977012" cy="15360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77012" cy="1536026"/>
            </a:xfrm>
            <a:custGeom>
              <a:avLst/>
              <a:gdLst/>
              <a:ahLst/>
              <a:cxnLst/>
              <a:rect l="l" t="t" r="r" b="b"/>
              <a:pathLst>
                <a:path w="5977012" h="1536026">
                  <a:moveTo>
                    <a:pt x="0" y="0"/>
                  </a:moveTo>
                  <a:lnTo>
                    <a:pt x="5977012" y="0"/>
                  </a:lnTo>
                  <a:lnTo>
                    <a:pt x="5977012" y="1536026"/>
                  </a:lnTo>
                  <a:lnTo>
                    <a:pt x="0" y="15360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5977012" cy="16027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29"/>
                </a:lnSpc>
              </a:pPr>
              <a:r>
                <a:rPr lang="es-CL" sz="3274" b="1" noProof="0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Descripción del origen de la problemática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772422" y="1964948"/>
            <a:ext cx="14743155" cy="7293352"/>
          </a:xfrm>
          <a:custGeom>
            <a:avLst/>
            <a:gdLst/>
            <a:ahLst/>
            <a:cxnLst/>
            <a:rect l="l" t="t" r="r" b="b"/>
            <a:pathLst>
              <a:path w="14743155" h="7293352">
                <a:moveTo>
                  <a:pt x="0" y="0"/>
                </a:moveTo>
                <a:lnTo>
                  <a:pt x="14743156" y="0"/>
                </a:lnTo>
                <a:lnTo>
                  <a:pt x="14743156" y="7293352"/>
                </a:lnTo>
                <a:lnTo>
                  <a:pt x="0" y="72933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0421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4893505" y="2771273"/>
            <a:ext cx="3858798" cy="3858798"/>
          </a:xfrm>
          <a:custGeom>
            <a:avLst/>
            <a:gdLst/>
            <a:ahLst/>
            <a:cxnLst/>
            <a:rect l="l" t="t" r="r" b="b"/>
            <a:pathLst>
              <a:path w="3858798" h="3858798">
                <a:moveTo>
                  <a:pt x="0" y="0"/>
                </a:moveTo>
                <a:lnTo>
                  <a:pt x="3858798" y="0"/>
                </a:lnTo>
                <a:lnTo>
                  <a:pt x="3858798" y="3858798"/>
                </a:lnTo>
                <a:lnTo>
                  <a:pt x="0" y="38587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13620752" y="2771273"/>
            <a:ext cx="3858798" cy="3858798"/>
          </a:xfrm>
          <a:custGeom>
            <a:avLst/>
            <a:gdLst/>
            <a:ahLst/>
            <a:cxnLst/>
            <a:rect l="l" t="t" r="r" b="b"/>
            <a:pathLst>
              <a:path w="3858798" h="3858798">
                <a:moveTo>
                  <a:pt x="0" y="0"/>
                </a:moveTo>
                <a:lnTo>
                  <a:pt x="3858798" y="0"/>
                </a:lnTo>
                <a:lnTo>
                  <a:pt x="3858798" y="3858798"/>
                </a:lnTo>
                <a:lnTo>
                  <a:pt x="0" y="38587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Freeform 11"/>
          <p:cNvSpPr/>
          <p:nvPr/>
        </p:nvSpPr>
        <p:spPr>
          <a:xfrm>
            <a:off x="9257128" y="2771273"/>
            <a:ext cx="3858798" cy="3858798"/>
          </a:xfrm>
          <a:custGeom>
            <a:avLst/>
            <a:gdLst/>
            <a:ahLst/>
            <a:cxnLst/>
            <a:rect l="l" t="t" r="r" b="b"/>
            <a:pathLst>
              <a:path w="3858798" h="3858798">
                <a:moveTo>
                  <a:pt x="0" y="0"/>
                </a:moveTo>
                <a:lnTo>
                  <a:pt x="3858799" y="0"/>
                </a:lnTo>
                <a:lnTo>
                  <a:pt x="3858799" y="3858798"/>
                </a:lnTo>
                <a:lnTo>
                  <a:pt x="0" y="38587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Freeform 12"/>
          <p:cNvSpPr/>
          <p:nvPr/>
        </p:nvSpPr>
        <p:spPr>
          <a:xfrm>
            <a:off x="529882" y="2771273"/>
            <a:ext cx="3858798" cy="3858798"/>
          </a:xfrm>
          <a:custGeom>
            <a:avLst/>
            <a:gdLst/>
            <a:ahLst/>
            <a:cxnLst/>
            <a:rect l="l" t="t" r="r" b="b"/>
            <a:pathLst>
              <a:path w="3858798" h="3858798">
                <a:moveTo>
                  <a:pt x="0" y="0"/>
                </a:moveTo>
                <a:lnTo>
                  <a:pt x="3858798" y="0"/>
                </a:lnTo>
                <a:lnTo>
                  <a:pt x="3858798" y="3858798"/>
                </a:lnTo>
                <a:lnTo>
                  <a:pt x="0" y="38587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Box 13"/>
          <p:cNvSpPr txBox="1"/>
          <p:nvPr/>
        </p:nvSpPr>
        <p:spPr>
          <a:xfrm>
            <a:off x="91425" y="737134"/>
            <a:ext cx="4293906" cy="1066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Descripción de</a:t>
            </a:r>
          </a:p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63837" y="1525295"/>
            <a:ext cx="7000934" cy="5961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69"/>
              </a:lnSpc>
              <a:spcBef>
                <a:spcPct val="0"/>
              </a:spcBef>
            </a:pPr>
            <a:r>
              <a:rPr lang="es-CL" sz="39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Problemática Puntos Claves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3346" y="7108241"/>
            <a:ext cx="2972395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  <a:spcBef>
                <a:spcPct val="0"/>
              </a:spcBef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Baja trazabilidad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81503" y="7108241"/>
            <a:ext cx="4082801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  <a:spcBef>
                <a:spcPct val="0"/>
              </a:spcBef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Información dispersa en planillas y mensajes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32681" y="7108241"/>
            <a:ext cx="3307694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  <a:spcBef>
                <a:spcPct val="0"/>
              </a:spcBef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Escaso control de tiempos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54382" y="7041566"/>
            <a:ext cx="3925167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  <a:spcBef>
                <a:spcPct val="0"/>
              </a:spcBef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Dificultad para generar reportes e informes confiables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77742" y="803809"/>
            <a:ext cx="12404783" cy="9132046"/>
            <a:chOff x="0" y="0"/>
            <a:chExt cx="16539710" cy="12176062"/>
          </a:xfrm>
        </p:grpSpPr>
        <p:sp>
          <p:nvSpPr>
            <p:cNvPr id="9" name="Freeform 9"/>
            <p:cNvSpPr/>
            <p:nvPr/>
          </p:nvSpPr>
          <p:spPr>
            <a:xfrm>
              <a:off x="10919382" y="11601602"/>
              <a:ext cx="4626004" cy="398961"/>
            </a:xfrm>
            <a:custGeom>
              <a:avLst/>
              <a:gdLst/>
              <a:ahLst/>
              <a:cxnLst/>
              <a:rect l="l" t="t" r="r" b="b"/>
              <a:pathLst>
                <a:path w="4626004" h="398961">
                  <a:moveTo>
                    <a:pt x="0" y="0"/>
                  </a:moveTo>
                  <a:lnTo>
                    <a:pt x="4626004" y="0"/>
                  </a:lnTo>
                  <a:lnTo>
                    <a:pt x="4626004" y="398961"/>
                  </a:lnTo>
                  <a:lnTo>
                    <a:pt x="0" y="398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6539710" cy="12176062"/>
            </a:xfrm>
            <a:custGeom>
              <a:avLst/>
              <a:gdLst/>
              <a:ahLst/>
              <a:cxnLst/>
              <a:rect l="l" t="t" r="r" b="b"/>
              <a:pathLst>
                <a:path w="16539710" h="12176062">
                  <a:moveTo>
                    <a:pt x="0" y="0"/>
                  </a:moveTo>
                  <a:lnTo>
                    <a:pt x="16539710" y="0"/>
                  </a:lnTo>
                  <a:lnTo>
                    <a:pt x="16539710" y="12176062"/>
                  </a:lnTo>
                  <a:lnTo>
                    <a:pt x="0" y="12176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9417" b="-16420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CL" noProof="0" dirty="0"/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5465733" y="3432266"/>
              <a:ext cx="5093622" cy="331565"/>
              <a:chOff x="0" y="0"/>
              <a:chExt cx="892563" cy="5810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92563" cy="58101"/>
              </a:xfrm>
              <a:custGeom>
                <a:avLst/>
                <a:gdLst/>
                <a:ahLst/>
                <a:cxnLst/>
                <a:rect l="l" t="t" r="r" b="b"/>
                <a:pathLst>
                  <a:path w="892563" h="58101">
                    <a:moveTo>
                      <a:pt x="0" y="0"/>
                    </a:moveTo>
                    <a:lnTo>
                      <a:pt x="892563" y="0"/>
                    </a:lnTo>
                    <a:lnTo>
                      <a:pt x="892563" y="58101"/>
                    </a:lnTo>
                    <a:lnTo>
                      <a:pt x="0" y="58101"/>
                    </a:lnTo>
                    <a:close/>
                  </a:path>
                </a:pathLst>
              </a:custGeom>
              <a:solidFill>
                <a:srgbClr val="252E3B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892563" cy="962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es-CL" noProof="0" dirty="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593770" y="7277905"/>
              <a:ext cx="4548104" cy="392178"/>
              <a:chOff x="0" y="0"/>
              <a:chExt cx="796971" cy="6872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96971" cy="68722"/>
              </a:xfrm>
              <a:custGeom>
                <a:avLst/>
                <a:gdLst/>
                <a:ahLst/>
                <a:cxnLst/>
                <a:rect l="l" t="t" r="r" b="b"/>
                <a:pathLst>
                  <a:path w="796971" h="68722">
                    <a:moveTo>
                      <a:pt x="0" y="0"/>
                    </a:moveTo>
                    <a:lnTo>
                      <a:pt x="796971" y="0"/>
                    </a:lnTo>
                    <a:lnTo>
                      <a:pt x="796971" y="68722"/>
                    </a:lnTo>
                    <a:lnTo>
                      <a:pt x="0" y="68722"/>
                    </a:lnTo>
                    <a:close/>
                  </a:path>
                </a:pathLst>
              </a:custGeom>
              <a:solidFill>
                <a:srgbClr val="1C3052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796971" cy="1068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es-CL" noProof="0" dirty="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593770" y="9123312"/>
              <a:ext cx="4420067" cy="373104"/>
              <a:chOff x="0" y="0"/>
              <a:chExt cx="774535" cy="6538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774535" cy="65380"/>
              </a:xfrm>
              <a:custGeom>
                <a:avLst/>
                <a:gdLst/>
                <a:ahLst/>
                <a:cxnLst/>
                <a:rect l="l" t="t" r="r" b="b"/>
                <a:pathLst>
                  <a:path w="774535" h="65380">
                    <a:moveTo>
                      <a:pt x="0" y="0"/>
                    </a:moveTo>
                    <a:lnTo>
                      <a:pt x="774535" y="0"/>
                    </a:lnTo>
                    <a:lnTo>
                      <a:pt x="774535" y="65380"/>
                    </a:lnTo>
                    <a:lnTo>
                      <a:pt x="0" y="65380"/>
                    </a:lnTo>
                    <a:close/>
                  </a:path>
                </a:pathLst>
              </a:custGeom>
              <a:solidFill>
                <a:srgbClr val="1C3052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774535" cy="1034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es-CL" noProof="0" dirty="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5222033" y="4156068"/>
              <a:ext cx="9330710" cy="1019644"/>
              <a:chOff x="0" y="0"/>
              <a:chExt cx="1635035" cy="17867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635035" cy="178674"/>
              </a:xfrm>
              <a:custGeom>
                <a:avLst/>
                <a:gdLst/>
                <a:ahLst/>
                <a:cxnLst/>
                <a:rect l="l" t="t" r="r" b="b"/>
                <a:pathLst>
                  <a:path w="1635035" h="178674">
                    <a:moveTo>
                      <a:pt x="0" y="0"/>
                    </a:moveTo>
                    <a:lnTo>
                      <a:pt x="1635035" y="0"/>
                    </a:lnTo>
                    <a:lnTo>
                      <a:pt x="1635035" y="178674"/>
                    </a:lnTo>
                    <a:lnTo>
                      <a:pt x="0" y="178674"/>
                    </a:lnTo>
                    <a:close/>
                  </a:path>
                </a:pathLst>
              </a:custGeom>
              <a:solidFill>
                <a:srgbClr val="1C3052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19050"/>
                <a:ext cx="1635035" cy="19772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80"/>
                  </a:lnSpc>
                </a:pPr>
                <a:endParaRPr lang="es-CL" noProof="0" dirty="0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2787433" y="4348009"/>
              <a:ext cx="1591457" cy="635761"/>
              <a:chOff x="0" y="0"/>
              <a:chExt cx="278874" cy="11140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78874" cy="111405"/>
              </a:xfrm>
              <a:custGeom>
                <a:avLst/>
                <a:gdLst/>
                <a:ahLst/>
                <a:cxnLst/>
                <a:rect l="l" t="t" r="r" b="b"/>
                <a:pathLst>
                  <a:path w="278874" h="111405">
                    <a:moveTo>
                      <a:pt x="55703" y="0"/>
                    </a:moveTo>
                    <a:lnTo>
                      <a:pt x="223171" y="0"/>
                    </a:lnTo>
                    <a:cubicBezTo>
                      <a:pt x="237944" y="0"/>
                      <a:pt x="252112" y="5869"/>
                      <a:pt x="262559" y="16315"/>
                    </a:cubicBezTo>
                    <a:cubicBezTo>
                      <a:pt x="273005" y="26761"/>
                      <a:pt x="278874" y="40929"/>
                      <a:pt x="278874" y="55703"/>
                    </a:cubicBezTo>
                    <a:lnTo>
                      <a:pt x="278874" y="55703"/>
                    </a:lnTo>
                    <a:cubicBezTo>
                      <a:pt x="278874" y="70476"/>
                      <a:pt x="273005" y="84644"/>
                      <a:pt x="262559" y="95090"/>
                    </a:cubicBezTo>
                    <a:cubicBezTo>
                      <a:pt x="252112" y="105537"/>
                      <a:pt x="237944" y="111405"/>
                      <a:pt x="223171" y="111405"/>
                    </a:cubicBezTo>
                    <a:lnTo>
                      <a:pt x="55703" y="111405"/>
                    </a:lnTo>
                    <a:cubicBezTo>
                      <a:pt x="40929" y="111405"/>
                      <a:pt x="26761" y="105537"/>
                      <a:pt x="16315" y="95090"/>
                    </a:cubicBezTo>
                    <a:cubicBezTo>
                      <a:pt x="5869" y="84644"/>
                      <a:pt x="0" y="70476"/>
                      <a:pt x="0" y="55703"/>
                    </a:cubicBezTo>
                    <a:lnTo>
                      <a:pt x="0" y="55703"/>
                    </a:lnTo>
                    <a:cubicBezTo>
                      <a:pt x="0" y="40929"/>
                      <a:pt x="5869" y="26761"/>
                      <a:pt x="16315" y="16315"/>
                    </a:cubicBezTo>
                    <a:cubicBezTo>
                      <a:pt x="26761" y="5869"/>
                      <a:pt x="40929" y="0"/>
                      <a:pt x="557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00BF63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19050"/>
                <a:ext cx="278874" cy="1304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80"/>
                  </a:lnSpc>
                </a:pPr>
                <a:r>
                  <a:rPr lang="es-CL" sz="1200" noProof="0" dirty="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(+) Nueva OT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0247985" y="4317702"/>
              <a:ext cx="2496499" cy="666067"/>
              <a:chOff x="0" y="0"/>
              <a:chExt cx="437465" cy="11671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437465" cy="116716"/>
              </a:xfrm>
              <a:custGeom>
                <a:avLst/>
                <a:gdLst/>
                <a:ahLst/>
                <a:cxnLst/>
                <a:rect l="l" t="t" r="r" b="b"/>
                <a:pathLst>
                  <a:path w="437465" h="116716">
                    <a:moveTo>
                      <a:pt x="58358" y="0"/>
                    </a:moveTo>
                    <a:lnTo>
                      <a:pt x="379107" y="0"/>
                    </a:lnTo>
                    <a:cubicBezTo>
                      <a:pt x="411338" y="0"/>
                      <a:pt x="437465" y="26128"/>
                      <a:pt x="437465" y="58358"/>
                    </a:cubicBezTo>
                    <a:lnTo>
                      <a:pt x="437465" y="58358"/>
                    </a:lnTo>
                    <a:cubicBezTo>
                      <a:pt x="437465" y="90588"/>
                      <a:pt x="411338" y="116716"/>
                      <a:pt x="379107" y="116716"/>
                    </a:cubicBezTo>
                    <a:lnTo>
                      <a:pt x="58358" y="116716"/>
                    </a:lnTo>
                    <a:cubicBezTo>
                      <a:pt x="26128" y="116716"/>
                      <a:pt x="0" y="90588"/>
                      <a:pt x="0" y="58358"/>
                    </a:cubicBezTo>
                    <a:lnTo>
                      <a:pt x="0" y="58358"/>
                    </a:lnTo>
                    <a:cubicBezTo>
                      <a:pt x="0" y="26128"/>
                      <a:pt x="26128" y="0"/>
                      <a:pt x="58358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19050"/>
                <a:ext cx="437465" cy="1357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80"/>
                  </a:lnSpc>
                </a:pPr>
                <a:r>
                  <a:rPr lang="es-CL" sz="1200" noProof="0" dirty="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(+) Ingresar </a:t>
                </a:r>
                <a:r>
                  <a:rPr lang="es-CL" sz="1200" noProof="0" dirty="0" err="1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Vehiculo</a:t>
                </a:r>
                <a:endParaRPr lang="es-CL" sz="1200" noProof="0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7794139" y="4292447"/>
              <a:ext cx="2407154" cy="716578"/>
              <a:chOff x="0" y="0"/>
              <a:chExt cx="421809" cy="12556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21809" cy="125567"/>
              </a:xfrm>
              <a:custGeom>
                <a:avLst/>
                <a:gdLst/>
                <a:ahLst/>
                <a:cxnLst/>
                <a:rect l="l" t="t" r="r" b="b"/>
                <a:pathLst>
                  <a:path w="421809" h="125567">
                    <a:moveTo>
                      <a:pt x="62784" y="0"/>
                    </a:moveTo>
                    <a:lnTo>
                      <a:pt x="359026" y="0"/>
                    </a:lnTo>
                    <a:cubicBezTo>
                      <a:pt x="393700" y="0"/>
                      <a:pt x="421809" y="28109"/>
                      <a:pt x="421809" y="62784"/>
                    </a:cubicBezTo>
                    <a:lnTo>
                      <a:pt x="421809" y="62784"/>
                    </a:lnTo>
                    <a:cubicBezTo>
                      <a:pt x="421809" y="79435"/>
                      <a:pt x="415195" y="95404"/>
                      <a:pt x="403420" y="107178"/>
                    </a:cubicBezTo>
                    <a:cubicBezTo>
                      <a:pt x="391646" y="118952"/>
                      <a:pt x="375677" y="125567"/>
                      <a:pt x="359026" y="125567"/>
                    </a:cubicBezTo>
                    <a:lnTo>
                      <a:pt x="62784" y="125567"/>
                    </a:lnTo>
                    <a:cubicBezTo>
                      <a:pt x="28109" y="125567"/>
                      <a:pt x="0" y="97458"/>
                      <a:pt x="0" y="62784"/>
                    </a:cubicBezTo>
                    <a:lnTo>
                      <a:pt x="0" y="62784"/>
                    </a:lnTo>
                    <a:cubicBezTo>
                      <a:pt x="0" y="28109"/>
                      <a:pt x="28109" y="0"/>
                      <a:pt x="6278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3131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19050"/>
                <a:ext cx="421809" cy="144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80"/>
                  </a:lnSpc>
                </a:pPr>
                <a:r>
                  <a:rPr lang="es-CL" sz="1200" noProof="0" dirty="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Listado de </a:t>
                </a:r>
                <a:r>
                  <a:rPr lang="es-CL" sz="1200" noProof="0" dirty="0" err="1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Vehiculos</a:t>
                </a:r>
                <a:endParaRPr lang="es-CL" sz="1200" noProof="0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321196" y="4317702"/>
              <a:ext cx="2258201" cy="716578"/>
              <a:chOff x="0" y="0"/>
              <a:chExt cx="395708" cy="12556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395708" cy="125567"/>
              </a:xfrm>
              <a:custGeom>
                <a:avLst/>
                <a:gdLst/>
                <a:ahLst/>
                <a:cxnLst/>
                <a:rect l="l" t="t" r="r" b="b"/>
                <a:pathLst>
                  <a:path w="395708" h="125567">
                    <a:moveTo>
                      <a:pt x="62784" y="0"/>
                    </a:moveTo>
                    <a:lnTo>
                      <a:pt x="332924" y="0"/>
                    </a:lnTo>
                    <a:cubicBezTo>
                      <a:pt x="367599" y="0"/>
                      <a:pt x="395708" y="28109"/>
                      <a:pt x="395708" y="62784"/>
                    </a:cubicBezTo>
                    <a:lnTo>
                      <a:pt x="395708" y="62784"/>
                    </a:lnTo>
                    <a:cubicBezTo>
                      <a:pt x="395708" y="79435"/>
                      <a:pt x="389093" y="95404"/>
                      <a:pt x="377319" y="107178"/>
                    </a:cubicBezTo>
                    <a:cubicBezTo>
                      <a:pt x="365545" y="118952"/>
                      <a:pt x="349576" y="125567"/>
                      <a:pt x="332924" y="125567"/>
                    </a:cubicBezTo>
                    <a:lnTo>
                      <a:pt x="62784" y="125567"/>
                    </a:lnTo>
                    <a:cubicBezTo>
                      <a:pt x="28109" y="125567"/>
                      <a:pt x="0" y="97458"/>
                      <a:pt x="0" y="62784"/>
                    </a:cubicBezTo>
                    <a:lnTo>
                      <a:pt x="0" y="62784"/>
                    </a:lnTo>
                    <a:cubicBezTo>
                      <a:pt x="0" y="28109"/>
                      <a:pt x="28109" y="0"/>
                      <a:pt x="62784" y="0"/>
                    </a:cubicBezTo>
                    <a:close/>
                  </a:path>
                </a:pathLst>
              </a:custGeom>
              <a:solidFill>
                <a:srgbClr val="233A62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19050"/>
                <a:ext cx="395708" cy="1446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80"/>
                  </a:lnSpc>
                </a:pPr>
                <a:r>
                  <a:rPr lang="es-CL" sz="1200" noProof="0" dirty="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Ver Historial (</a:t>
                </a:r>
                <a:r>
                  <a:rPr lang="es-CL" sz="1200" noProof="0" dirty="0" err="1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Ots</a:t>
                </a:r>
                <a:r>
                  <a:rPr lang="es-CL" sz="1200" noProof="0" dirty="0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)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2113397" y="3228754"/>
              <a:ext cx="3008424" cy="4245240"/>
            </a:xfrm>
            <a:custGeom>
              <a:avLst/>
              <a:gdLst/>
              <a:ahLst/>
              <a:cxnLst/>
              <a:rect l="l" t="t" r="r" b="b"/>
              <a:pathLst>
                <a:path w="3008424" h="4245240">
                  <a:moveTo>
                    <a:pt x="0" y="0"/>
                  </a:moveTo>
                  <a:lnTo>
                    <a:pt x="3008423" y="0"/>
                  </a:lnTo>
                  <a:lnTo>
                    <a:pt x="3008423" y="4245240"/>
                  </a:lnTo>
                  <a:lnTo>
                    <a:pt x="0" y="4245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641" t="-3288" r="-8819" b="-2793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5407119" y="5433402"/>
              <a:ext cx="4986392" cy="4667992"/>
            </a:xfrm>
            <a:custGeom>
              <a:avLst/>
              <a:gdLst/>
              <a:ahLst/>
              <a:cxnLst/>
              <a:rect l="l" t="t" r="r" b="b"/>
              <a:pathLst>
                <a:path w="4986392" h="4667992">
                  <a:moveTo>
                    <a:pt x="0" y="0"/>
                  </a:moveTo>
                  <a:lnTo>
                    <a:pt x="4986391" y="0"/>
                  </a:lnTo>
                  <a:lnTo>
                    <a:pt x="4986391" y="4667992"/>
                  </a:lnTo>
                  <a:lnTo>
                    <a:pt x="0" y="4667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95714" b="-4117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10919382" y="7252657"/>
              <a:ext cx="3433354" cy="331565"/>
              <a:chOff x="0" y="0"/>
              <a:chExt cx="601632" cy="58101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01632" cy="58101"/>
              </a:xfrm>
              <a:custGeom>
                <a:avLst/>
                <a:gdLst/>
                <a:ahLst/>
                <a:cxnLst/>
                <a:rect l="l" t="t" r="r" b="b"/>
                <a:pathLst>
                  <a:path w="601632" h="58101">
                    <a:moveTo>
                      <a:pt x="0" y="0"/>
                    </a:moveTo>
                    <a:lnTo>
                      <a:pt x="601632" y="0"/>
                    </a:lnTo>
                    <a:lnTo>
                      <a:pt x="601632" y="58101"/>
                    </a:lnTo>
                    <a:lnTo>
                      <a:pt x="0" y="58101"/>
                    </a:lnTo>
                    <a:close/>
                  </a:path>
                </a:pathLst>
              </a:custGeom>
              <a:solidFill>
                <a:srgbClr val="131A22"/>
              </a:solidFill>
            </p:spPr>
            <p:txBody>
              <a:bodyPr/>
              <a:lstStyle/>
              <a:p>
                <a:endParaRPr lang="es-CL" noProof="0" dirty="0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601632" cy="962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lang="es-CL" noProof="0" dirty="0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1080348" y="6706805"/>
              <a:ext cx="3111420" cy="311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</a:pPr>
              <a:r>
                <a:rPr lang="es-CL" sz="1400" noProof="0" dirty="0">
                  <a:solidFill>
                    <a:srgbClr val="C4C7C5"/>
                  </a:solidFill>
                  <a:latin typeface="Open Sans"/>
                  <a:ea typeface="Open Sans"/>
                  <a:cs typeface="Open Sans"/>
                  <a:sym typeface="Open Sans"/>
                </a:rPr>
                <a:t>No hay OTs en este estado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1425" y="3320967"/>
            <a:ext cx="3419460" cy="1623720"/>
            <a:chOff x="0" y="0"/>
            <a:chExt cx="833015" cy="39555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33015" cy="395554"/>
            </a:xfrm>
            <a:custGeom>
              <a:avLst/>
              <a:gdLst/>
              <a:ahLst/>
              <a:cxnLst/>
              <a:rect l="l" t="t" r="r" b="b"/>
              <a:pathLst>
                <a:path w="833015" h="395554">
                  <a:moveTo>
                    <a:pt x="197777" y="0"/>
                  </a:moveTo>
                  <a:lnTo>
                    <a:pt x="635238" y="0"/>
                  </a:lnTo>
                  <a:cubicBezTo>
                    <a:pt x="744467" y="0"/>
                    <a:pt x="833015" y="88548"/>
                    <a:pt x="833015" y="197777"/>
                  </a:cubicBezTo>
                  <a:lnTo>
                    <a:pt x="833015" y="197777"/>
                  </a:lnTo>
                  <a:cubicBezTo>
                    <a:pt x="833015" y="250231"/>
                    <a:pt x="812178" y="300536"/>
                    <a:pt x="775087" y="337627"/>
                  </a:cubicBezTo>
                  <a:cubicBezTo>
                    <a:pt x="737997" y="374717"/>
                    <a:pt x="687691" y="395554"/>
                    <a:pt x="635238" y="395554"/>
                  </a:cubicBezTo>
                  <a:lnTo>
                    <a:pt x="197777" y="395554"/>
                  </a:lnTo>
                  <a:cubicBezTo>
                    <a:pt x="145323" y="395554"/>
                    <a:pt x="95018" y="374717"/>
                    <a:pt x="57928" y="337627"/>
                  </a:cubicBezTo>
                  <a:cubicBezTo>
                    <a:pt x="20837" y="300536"/>
                    <a:pt x="0" y="250231"/>
                    <a:pt x="0" y="197777"/>
                  </a:cubicBezTo>
                  <a:lnTo>
                    <a:pt x="0" y="197777"/>
                  </a:lnTo>
                  <a:cubicBezTo>
                    <a:pt x="0" y="145323"/>
                    <a:pt x="20837" y="95018"/>
                    <a:pt x="57928" y="57928"/>
                  </a:cubicBezTo>
                  <a:cubicBezTo>
                    <a:pt x="95018" y="20837"/>
                    <a:pt x="145323" y="0"/>
                    <a:pt x="197777" y="0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833015" cy="424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9"/>
                </a:lnSpc>
              </a:pPr>
              <a:endParaRPr lang="es-CL" noProof="0" dirty="0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91425" y="737134"/>
            <a:ext cx="4293906" cy="1066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Descripción de</a:t>
            </a:r>
          </a:p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Proyecto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673070" y="563438"/>
            <a:ext cx="5057835" cy="5961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69"/>
              </a:lnSpc>
              <a:spcBef>
                <a:spcPct val="0"/>
              </a:spcBef>
            </a:pPr>
            <a:r>
              <a:rPr lang="es-CL" sz="39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Propuesta Solución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79846" y="3497308"/>
            <a:ext cx="3108487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8"/>
              </a:lnSpc>
              <a:spcBef>
                <a:spcPct val="0"/>
              </a:spcBef>
            </a:pPr>
            <a:r>
              <a:rPr lang="es-CL" sz="2106" noProof="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Plataforma web que centraliza el ingreso de vehículos y la gestión de Órdenes de Trabajo.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72671" y="5369832"/>
            <a:ext cx="2938214" cy="1395202"/>
            <a:chOff x="0" y="0"/>
            <a:chExt cx="833015" cy="39555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33015" cy="395554"/>
            </a:xfrm>
            <a:custGeom>
              <a:avLst/>
              <a:gdLst/>
              <a:ahLst/>
              <a:cxnLst/>
              <a:rect l="l" t="t" r="r" b="b"/>
              <a:pathLst>
                <a:path w="833015" h="395554">
                  <a:moveTo>
                    <a:pt x="197777" y="0"/>
                  </a:moveTo>
                  <a:lnTo>
                    <a:pt x="635238" y="0"/>
                  </a:lnTo>
                  <a:cubicBezTo>
                    <a:pt x="744467" y="0"/>
                    <a:pt x="833015" y="88548"/>
                    <a:pt x="833015" y="197777"/>
                  </a:cubicBezTo>
                  <a:lnTo>
                    <a:pt x="833015" y="197777"/>
                  </a:lnTo>
                  <a:cubicBezTo>
                    <a:pt x="833015" y="250231"/>
                    <a:pt x="812178" y="300536"/>
                    <a:pt x="775087" y="337627"/>
                  </a:cubicBezTo>
                  <a:cubicBezTo>
                    <a:pt x="737997" y="374717"/>
                    <a:pt x="687691" y="395554"/>
                    <a:pt x="635238" y="395554"/>
                  </a:cubicBezTo>
                  <a:lnTo>
                    <a:pt x="197777" y="395554"/>
                  </a:lnTo>
                  <a:cubicBezTo>
                    <a:pt x="145323" y="395554"/>
                    <a:pt x="95018" y="374717"/>
                    <a:pt x="57928" y="337627"/>
                  </a:cubicBezTo>
                  <a:cubicBezTo>
                    <a:pt x="20837" y="300536"/>
                    <a:pt x="0" y="250231"/>
                    <a:pt x="0" y="197777"/>
                  </a:cubicBezTo>
                  <a:lnTo>
                    <a:pt x="0" y="197777"/>
                  </a:lnTo>
                  <a:cubicBezTo>
                    <a:pt x="0" y="145323"/>
                    <a:pt x="20837" y="95018"/>
                    <a:pt x="57928" y="57928"/>
                  </a:cubicBezTo>
                  <a:cubicBezTo>
                    <a:pt x="95018" y="20837"/>
                    <a:pt x="145323" y="0"/>
                    <a:pt x="197777" y="0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833015" cy="424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9"/>
                </a:lnSpc>
              </a:pPr>
              <a:endParaRPr lang="es-CL" noProof="0" dirty="0"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883644" y="5596571"/>
            <a:ext cx="246335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2"/>
              </a:lnSpc>
              <a:spcBef>
                <a:spcPct val="0"/>
              </a:spcBef>
            </a:pPr>
            <a:r>
              <a:rPr lang="es-CL" sz="2143" noProof="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Flujo digitalizado con roles y permisos definidos.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4025026" y="2399202"/>
            <a:ext cx="4190136" cy="1585310"/>
            <a:chOff x="0" y="0"/>
            <a:chExt cx="1187948" cy="44945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87948" cy="449452"/>
            </a:xfrm>
            <a:custGeom>
              <a:avLst/>
              <a:gdLst/>
              <a:ahLst/>
              <a:cxnLst/>
              <a:rect l="l" t="t" r="r" b="b"/>
              <a:pathLst>
                <a:path w="1187948" h="449452">
                  <a:moveTo>
                    <a:pt x="184765" y="0"/>
                  </a:moveTo>
                  <a:lnTo>
                    <a:pt x="1003183" y="0"/>
                  </a:lnTo>
                  <a:cubicBezTo>
                    <a:pt x="1052185" y="0"/>
                    <a:pt x="1099181" y="19466"/>
                    <a:pt x="1133831" y="54117"/>
                  </a:cubicBezTo>
                  <a:cubicBezTo>
                    <a:pt x="1168482" y="88767"/>
                    <a:pt x="1187948" y="135763"/>
                    <a:pt x="1187948" y="184765"/>
                  </a:cubicBezTo>
                  <a:lnTo>
                    <a:pt x="1187948" y="264687"/>
                  </a:lnTo>
                  <a:cubicBezTo>
                    <a:pt x="1187948" y="366730"/>
                    <a:pt x="1105226" y="449452"/>
                    <a:pt x="1003183" y="449452"/>
                  </a:cubicBezTo>
                  <a:lnTo>
                    <a:pt x="184765" y="449452"/>
                  </a:lnTo>
                  <a:cubicBezTo>
                    <a:pt x="135763" y="449452"/>
                    <a:pt x="88767" y="429986"/>
                    <a:pt x="54117" y="395336"/>
                  </a:cubicBezTo>
                  <a:cubicBezTo>
                    <a:pt x="19466" y="360686"/>
                    <a:pt x="0" y="313690"/>
                    <a:pt x="0" y="264687"/>
                  </a:cubicBezTo>
                  <a:lnTo>
                    <a:pt x="0" y="184765"/>
                  </a:lnTo>
                  <a:cubicBezTo>
                    <a:pt x="0" y="82722"/>
                    <a:pt x="82722" y="0"/>
                    <a:pt x="184765" y="0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1187948" cy="4780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9"/>
                </a:lnSpc>
              </a:pPr>
              <a:endParaRPr lang="es-CL" noProof="0" dirty="0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4485178" y="2458432"/>
            <a:ext cx="3594772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4"/>
              </a:lnSpc>
              <a:spcBef>
                <a:spcPct val="0"/>
              </a:spcBef>
            </a:pPr>
            <a:r>
              <a:rPr lang="es-CL" sz="2279" noProof="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Registro estructurado de tareas, repuestos utilizados, evidencias y pausas por OT y tarea por vehículo .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3851618" y="4944687"/>
            <a:ext cx="3698649" cy="1547289"/>
            <a:chOff x="0" y="0"/>
            <a:chExt cx="1048606" cy="43867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048606" cy="438673"/>
            </a:xfrm>
            <a:custGeom>
              <a:avLst/>
              <a:gdLst/>
              <a:ahLst/>
              <a:cxnLst/>
              <a:rect l="l" t="t" r="r" b="b"/>
              <a:pathLst>
                <a:path w="1048606" h="438673">
                  <a:moveTo>
                    <a:pt x="209318" y="0"/>
                  </a:moveTo>
                  <a:lnTo>
                    <a:pt x="839289" y="0"/>
                  </a:lnTo>
                  <a:cubicBezTo>
                    <a:pt x="954892" y="0"/>
                    <a:pt x="1048606" y="93715"/>
                    <a:pt x="1048606" y="209318"/>
                  </a:cubicBezTo>
                  <a:lnTo>
                    <a:pt x="1048606" y="229355"/>
                  </a:lnTo>
                  <a:cubicBezTo>
                    <a:pt x="1048606" y="344958"/>
                    <a:pt x="954892" y="438673"/>
                    <a:pt x="839289" y="438673"/>
                  </a:cubicBezTo>
                  <a:lnTo>
                    <a:pt x="209318" y="438673"/>
                  </a:lnTo>
                  <a:cubicBezTo>
                    <a:pt x="93715" y="438673"/>
                    <a:pt x="0" y="344958"/>
                    <a:pt x="0" y="229355"/>
                  </a:cubicBezTo>
                  <a:lnTo>
                    <a:pt x="0" y="209318"/>
                  </a:lnTo>
                  <a:cubicBezTo>
                    <a:pt x="0" y="93715"/>
                    <a:pt x="93715" y="0"/>
                    <a:pt x="209318" y="0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28575"/>
              <a:ext cx="1048606" cy="467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59"/>
                </a:lnSpc>
              </a:pPr>
              <a:endParaRPr lang="es-CL" noProof="0" dirty="0"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4264920" y="5060984"/>
            <a:ext cx="2976872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0"/>
              </a:lnSpc>
              <a:spcBef>
                <a:spcPct val="0"/>
              </a:spcBef>
            </a:pPr>
            <a:r>
              <a:rPr lang="es-CL" sz="2233" noProof="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Paneles que muestran en tiempo real tiempos en taller, estados de OT y carga de trabajo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000592" y="2488443"/>
            <a:ext cx="13810721" cy="2402592"/>
            <a:chOff x="0" y="0"/>
            <a:chExt cx="18414295" cy="3203456"/>
          </a:xfrm>
        </p:grpSpPr>
        <p:sp>
          <p:nvSpPr>
            <p:cNvPr id="10" name="Freeform 10"/>
            <p:cNvSpPr/>
            <p:nvPr/>
          </p:nvSpPr>
          <p:spPr>
            <a:xfrm>
              <a:off x="7747" y="7747"/>
              <a:ext cx="18398871" cy="3188081"/>
            </a:xfrm>
            <a:custGeom>
              <a:avLst/>
              <a:gdLst/>
              <a:ahLst/>
              <a:cxnLst/>
              <a:rect l="l" t="t" r="r" b="b"/>
              <a:pathLst>
                <a:path w="18398871" h="3188081">
                  <a:moveTo>
                    <a:pt x="0" y="531368"/>
                  </a:moveTo>
                  <a:cubicBezTo>
                    <a:pt x="0" y="237871"/>
                    <a:pt x="238760" y="0"/>
                    <a:pt x="533400" y="0"/>
                  </a:cubicBezTo>
                  <a:lnTo>
                    <a:pt x="17865343" y="0"/>
                  </a:lnTo>
                  <a:cubicBezTo>
                    <a:pt x="18159983" y="0"/>
                    <a:pt x="18398871" y="237871"/>
                    <a:pt x="18398871" y="531368"/>
                  </a:cubicBezTo>
                  <a:lnTo>
                    <a:pt x="18398871" y="2656713"/>
                  </a:lnTo>
                  <a:cubicBezTo>
                    <a:pt x="18398871" y="2950210"/>
                    <a:pt x="18159983" y="3188081"/>
                    <a:pt x="17865343" y="3188081"/>
                  </a:cubicBezTo>
                  <a:lnTo>
                    <a:pt x="533400" y="3188081"/>
                  </a:lnTo>
                  <a:cubicBezTo>
                    <a:pt x="238760" y="3187954"/>
                    <a:pt x="0" y="2950083"/>
                    <a:pt x="0" y="265671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18414237" cy="3203575"/>
            </a:xfrm>
            <a:custGeom>
              <a:avLst/>
              <a:gdLst/>
              <a:ahLst/>
              <a:cxnLst/>
              <a:rect l="l" t="t" r="r" b="b"/>
              <a:pathLst>
                <a:path w="18414237" h="3203575">
                  <a:moveTo>
                    <a:pt x="0" y="539115"/>
                  </a:moveTo>
                  <a:cubicBezTo>
                    <a:pt x="0" y="241300"/>
                    <a:pt x="242316" y="0"/>
                    <a:pt x="541147" y="0"/>
                  </a:cubicBezTo>
                  <a:lnTo>
                    <a:pt x="17873090" y="0"/>
                  </a:lnTo>
                  <a:lnTo>
                    <a:pt x="17873090" y="7747"/>
                  </a:lnTo>
                  <a:lnTo>
                    <a:pt x="17873090" y="0"/>
                  </a:lnTo>
                  <a:cubicBezTo>
                    <a:pt x="18171922" y="0"/>
                    <a:pt x="18414237" y="241300"/>
                    <a:pt x="18414237" y="539115"/>
                  </a:cubicBezTo>
                  <a:lnTo>
                    <a:pt x="18406490" y="539115"/>
                  </a:lnTo>
                  <a:lnTo>
                    <a:pt x="18414237" y="539115"/>
                  </a:lnTo>
                  <a:lnTo>
                    <a:pt x="18414237" y="2664460"/>
                  </a:lnTo>
                  <a:lnTo>
                    <a:pt x="18406490" y="2664460"/>
                  </a:lnTo>
                  <a:lnTo>
                    <a:pt x="18414237" y="2664460"/>
                  </a:lnTo>
                  <a:cubicBezTo>
                    <a:pt x="18414237" y="2962148"/>
                    <a:pt x="18171922" y="3203575"/>
                    <a:pt x="17873090" y="3203575"/>
                  </a:cubicBezTo>
                  <a:lnTo>
                    <a:pt x="17873090" y="3195828"/>
                  </a:lnTo>
                  <a:lnTo>
                    <a:pt x="17873090" y="3203575"/>
                  </a:lnTo>
                  <a:lnTo>
                    <a:pt x="541147" y="3203575"/>
                  </a:lnTo>
                  <a:lnTo>
                    <a:pt x="541147" y="3195828"/>
                  </a:lnTo>
                  <a:lnTo>
                    <a:pt x="541147" y="3203575"/>
                  </a:lnTo>
                  <a:cubicBezTo>
                    <a:pt x="242316" y="3203448"/>
                    <a:pt x="0" y="2962148"/>
                    <a:pt x="0" y="2664460"/>
                  </a:cubicBezTo>
                  <a:lnTo>
                    <a:pt x="0" y="539115"/>
                  </a:lnTo>
                  <a:lnTo>
                    <a:pt x="7747" y="539115"/>
                  </a:lnTo>
                  <a:lnTo>
                    <a:pt x="0" y="539115"/>
                  </a:lnTo>
                  <a:moveTo>
                    <a:pt x="15367" y="539115"/>
                  </a:moveTo>
                  <a:lnTo>
                    <a:pt x="15367" y="2664460"/>
                  </a:lnTo>
                  <a:lnTo>
                    <a:pt x="7747" y="2664460"/>
                  </a:lnTo>
                  <a:lnTo>
                    <a:pt x="15494" y="2664460"/>
                  </a:lnTo>
                  <a:cubicBezTo>
                    <a:pt x="15494" y="2953639"/>
                    <a:pt x="250825" y="3188081"/>
                    <a:pt x="541274" y="3188081"/>
                  </a:cubicBezTo>
                  <a:lnTo>
                    <a:pt x="17873090" y="3188081"/>
                  </a:lnTo>
                  <a:cubicBezTo>
                    <a:pt x="18163539" y="3188081"/>
                    <a:pt x="18398871" y="2953639"/>
                    <a:pt x="18398871" y="2664460"/>
                  </a:cubicBezTo>
                  <a:lnTo>
                    <a:pt x="18398871" y="539115"/>
                  </a:lnTo>
                  <a:cubicBezTo>
                    <a:pt x="18398871" y="249936"/>
                    <a:pt x="18163539" y="15494"/>
                    <a:pt x="17873090" y="15494"/>
                  </a:cubicBezTo>
                  <a:lnTo>
                    <a:pt x="541147" y="15494"/>
                  </a:lnTo>
                  <a:lnTo>
                    <a:pt x="541147" y="7747"/>
                  </a:lnTo>
                  <a:lnTo>
                    <a:pt x="541147" y="15494"/>
                  </a:lnTo>
                  <a:cubicBezTo>
                    <a:pt x="250698" y="15494"/>
                    <a:pt x="15367" y="249936"/>
                    <a:pt x="15367" y="539115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94845" y="2326320"/>
            <a:ext cx="2458921" cy="2564715"/>
          </a:xfrm>
          <a:custGeom>
            <a:avLst/>
            <a:gdLst/>
            <a:ahLst/>
            <a:cxnLst/>
            <a:rect l="l" t="t" r="r" b="b"/>
            <a:pathLst>
              <a:path w="2458921" h="2564715">
                <a:moveTo>
                  <a:pt x="0" y="0"/>
                </a:moveTo>
                <a:lnTo>
                  <a:pt x="2458920" y="0"/>
                </a:lnTo>
                <a:lnTo>
                  <a:pt x="2458920" y="2564715"/>
                </a:lnTo>
                <a:lnTo>
                  <a:pt x="0" y="25647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Box 13"/>
          <p:cNvSpPr txBox="1"/>
          <p:nvPr/>
        </p:nvSpPr>
        <p:spPr>
          <a:xfrm>
            <a:off x="1324304" y="1477075"/>
            <a:ext cx="15163143" cy="563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 General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4305" y="5340492"/>
            <a:ext cx="15163143" cy="563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Específicos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0" y="927409"/>
            <a:ext cx="4499403" cy="570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00592" y="2923773"/>
            <a:ext cx="13810721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9"/>
              </a:lnSpc>
              <a:spcBef>
                <a:spcPct val="0"/>
              </a:spcBef>
            </a:pPr>
            <a:r>
              <a:rPr lang="es-CL" sz="3074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Desarrollar una plataforma web que gestione el ingreso, la mantención y el seguimiento de vehículos en el Taller Santa Marta de PepsiCo, centralizando la información y mejorando la trazabilidad y el control operativo del taller.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20723" y="6344007"/>
            <a:ext cx="13960804" cy="2447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4359" lvl="1" indent="-247179" algn="l">
              <a:lnSpc>
                <a:spcPts val="2747"/>
              </a:lnSpc>
              <a:buFont typeface="Arial"/>
              <a:buChar char="•"/>
            </a:pPr>
            <a:r>
              <a:rPr lang="es-CL" sz="228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Digitalizar el registro de ingreso y salida de vehículos mediante una plataforma web.</a:t>
            </a:r>
          </a:p>
          <a:p>
            <a:pPr algn="l">
              <a:lnSpc>
                <a:spcPts val="2747"/>
              </a:lnSpc>
            </a:pPr>
            <a:endParaRPr lang="es-CL" sz="2289" noProof="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94359" lvl="1" indent="-247179" algn="l">
              <a:lnSpc>
                <a:spcPts val="2747"/>
              </a:lnSpc>
              <a:buFont typeface="Arial"/>
              <a:buChar char="•"/>
            </a:pPr>
            <a:r>
              <a:rPr lang="es-CL" sz="228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Permitir el seguimiento del estado de las Órdenes de Trabajo y de las tareas asociadas a cada vehículo (patente).</a:t>
            </a:r>
          </a:p>
          <a:p>
            <a:pPr algn="l">
              <a:lnSpc>
                <a:spcPts val="2747"/>
              </a:lnSpc>
            </a:pPr>
            <a:endParaRPr lang="es-CL" sz="2289" noProof="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94359" lvl="1" indent="-247179" algn="l">
              <a:lnSpc>
                <a:spcPts val="2747"/>
              </a:lnSpc>
              <a:buFont typeface="Arial"/>
              <a:buChar char="•"/>
            </a:pPr>
            <a:r>
              <a:rPr lang="es-CL" sz="228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Centralizar en una base de datos única la información de vehículos, mantenciones, y evidencias.</a:t>
            </a:r>
          </a:p>
          <a:p>
            <a:pPr algn="l">
              <a:lnSpc>
                <a:spcPts val="2747"/>
              </a:lnSpc>
            </a:pPr>
            <a:endParaRPr lang="es-CL" sz="2289" noProof="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94359" lvl="1" indent="-247179" algn="l">
              <a:lnSpc>
                <a:spcPts val="2747"/>
              </a:lnSpc>
              <a:buFont typeface="Arial"/>
              <a:buChar char="•"/>
            </a:pPr>
            <a:r>
              <a:rPr lang="es-CL" sz="2289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Generar reportes e indicadores que apoyen la toma de decisiones y la gestión integral del taller.</a:t>
            </a:r>
          </a:p>
        </p:txBody>
      </p:sp>
      <p:sp>
        <p:nvSpPr>
          <p:cNvPr id="18" name="Freeform 18"/>
          <p:cNvSpPr/>
          <p:nvPr/>
        </p:nvSpPr>
        <p:spPr>
          <a:xfrm>
            <a:off x="2048910" y="6351447"/>
            <a:ext cx="401582" cy="392821"/>
          </a:xfrm>
          <a:custGeom>
            <a:avLst/>
            <a:gdLst/>
            <a:ahLst/>
            <a:cxnLst/>
            <a:rect l="l" t="t" r="r" b="b"/>
            <a:pathLst>
              <a:path w="401582" h="392821">
                <a:moveTo>
                  <a:pt x="0" y="0"/>
                </a:moveTo>
                <a:lnTo>
                  <a:pt x="401583" y="0"/>
                </a:lnTo>
                <a:lnTo>
                  <a:pt x="401583" y="392821"/>
                </a:lnTo>
                <a:lnTo>
                  <a:pt x="0" y="3928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Freeform 19"/>
          <p:cNvSpPr/>
          <p:nvPr/>
        </p:nvSpPr>
        <p:spPr>
          <a:xfrm>
            <a:off x="2048910" y="7030018"/>
            <a:ext cx="401582" cy="392821"/>
          </a:xfrm>
          <a:custGeom>
            <a:avLst/>
            <a:gdLst/>
            <a:ahLst/>
            <a:cxnLst/>
            <a:rect l="l" t="t" r="r" b="b"/>
            <a:pathLst>
              <a:path w="401582" h="392821">
                <a:moveTo>
                  <a:pt x="0" y="0"/>
                </a:moveTo>
                <a:lnTo>
                  <a:pt x="401583" y="0"/>
                </a:lnTo>
                <a:lnTo>
                  <a:pt x="401583" y="392821"/>
                </a:lnTo>
                <a:lnTo>
                  <a:pt x="0" y="3928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Freeform 20"/>
          <p:cNvSpPr/>
          <p:nvPr/>
        </p:nvSpPr>
        <p:spPr>
          <a:xfrm>
            <a:off x="2048910" y="7727639"/>
            <a:ext cx="401582" cy="392821"/>
          </a:xfrm>
          <a:custGeom>
            <a:avLst/>
            <a:gdLst/>
            <a:ahLst/>
            <a:cxnLst/>
            <a:rect l="l" t="t" r="r" b="b"/>
            <a:pathLst>
              <a:path w="401582" h="392821">
                <a:moveTo>
                  <a:pt x="0" y="0"/>
                </a:moveTo>
                <a:lnTo>
                  <a:pt x="401583" y="0"/>
                </a:lnTo>
                <a:lnTo>
                  <a:pt x="401583" y="392820"/>
                </a:lnTo>
                <a:lnTo>
                  <a:pt x="0" y="3928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Freeform 21"/>
          <p:cNvSpPr/>
          <p:nvPr/>
        </p:nvSpPr>
        <p:spPr>
          <a:xfrm>
            <a:off x="2048910" y="8399111"/>
            <a:ext cx="401582" cy="392821"/>
          </a:xfrm>
          <a:custGeom>
            <a:avLst/>
            <a:gdLst/>
            <a:ahLst/>
            <a:cxnLst/>
            <a:rect l="l" t="t" r="r" b="b"/>
            <a:pathLst>
              <a:path w="401582" h="392821">
                <a:moveTo>
                  <a:pt x="0" y="0"/>
                </a:moveTo>
                <a:lnTo>
                  <a:pt x="401583" y="0"/>
                </a:lnTo>
                <a:lnTo>
                  <a:pt x="401583" y="392821"/>
                </a:lnTo>
                <a:lnTo>
                  <a:pt x="0" y="39282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00515" y="2568717"/>
            <a:ext cx="15258785" cy="2393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5775" lvl="1" indent="-282888" algn="l">
              <a:lnSpc>
                <a:spcPts val="3144"/>
              </a:lnSpc>
              <a:buFont typeface="Arial"/>
              <a:buChar char="•"/>
            </a:pPr>
            <a:r>
              <a:rPr lang="es-CL" sz="262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Digitalizar el flujo completo de ingreso, registro y salida de vehículos del Taller Santa Marta.</a:t>
            </a:r>
          </a:p>
          <a:p>
            <a:pPr marL="565775" lvl="1" indent="-282888" algn="l">
              <a:lnSpc>
                <a:spcPts val="3144"/>
              </a:lnSpc>
              <a:buFont typeface="Arial"/>
              <a:buChar char="•"/>
            </a:pPr>
            <a:r>
              <a:rPr lang="es-CL" sz="262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Gestionar de forma centralizada las Órdenes de Trabajo, tareas, repuestos, evidencias y pausas asociadas a cada vehículo (patente).</a:t>
            </a:r>
          </a:p>
          <a:p>
            <a:pPr marL="565775" lvl="1" indent="-282888" algn="l">
              <a:lnSpc>
                <a:spcPts val="3144"/>
              </a:lnSpc>
              <a:buFont typeface="Arial"/>
              <a:buChar char="•"/>
            </a:pPr>
            <a:r>
              <a:rPr lang="es-CL" sz="262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Implementar perfiles y permisos para Portería, Supervisor, Mecánico, Analista y Administrador, según sus responsabilidades.</a:t>
            </a:r>
          </a:p>
          <a:p>
            <a:pPr marL="565775" lvl="1" indent="-282888" algn="l">
              <a:lnSpc>
                <a:spcPts val="3144"/>
              </a:lnSpc>
              <a:buFont typeface="Arial"/>
              <a:buChar char="•"/>
            </a:pPr>
            <a:r>
              <a:rPr lang="es-CL" sz="262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Generar reportes básicos de gestión del taller</a:t>
            </a:r>
          </a:p>
        </p:txBody>
      </p:sp>
      <p:sp>
        <p:nvSpPr>
          <p:cNvPr id="10" name="Freeform 10"/>
          <p:cNvSpPr/>
          <p:nvPr/>
        </p:nvSpPr>
        <p:spPr>
          <a:xfrm>
            <a:off x="2195383" y="2625867"/>
            <a:ext cx="344137" cy="344137"/>
          </a:xfrm>
          <a:custGeom>
            <a:avLst/>
            <a:gdLst/>
            <a:ahLst/>
            <a:cxnLst/>
            <a:rect l="l" t="t" r="r" b="b"/>
            <a:pathLst>
              <a:path w="344137" h="344137">
                <a:moveTo>
                  <a:pt x="0" y="0"/>
                </a:moveTo>
                <a:lnTo>
                  <a:pt x="344137" y="0"/>
                </a:lnTo>
                <a:lnTo>
                  <a:pt x="344137" y="344137"/>
                </a:lnTo>
                <a:lnTo>
                  <a:pt x="0" y="344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Freeform 11"/>
          <p:cNvSpPr/>
          <p:nvPr/>
        </p:nvSpPr>
        <p:spPr>
          <a:xfrm>
            <a:off x="2195383" y="3076435"/>
            <a:ext cx="344137" cy="344137"/>
          </a:xfrm>
          <a:custGeom>
            <a:avLst/>
            <a:gdLst/>
            <a:ahLst/>
            <a:cxnLst/>
            <a:rect l="l" t="t" r="r" b="b"/>
            <a:pathLst>
              <a:path w="344137" h="344137">
                <a:moveTo>
                  <a:pt x="0" y="0"/>
                </a:moveTo>
                <a:lnTo>
                  <a:pt x="344137" y="0"/>
                </a:lnTo>
                <a:lnTo>
                  <a:pt x="344137" y="344137"/>
                </a:lnTo>
                <a:lnTo>
                  <a:pt x="0" y="344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Freeform 12"/>
          <p:cNvSpPr/>
          <p:nvPr/>
        </p:nvSpPr>
        <p:spPr>
          <a:xfrm>
            <a:off x="2195383" y="3819049"/>
            <a:ext cx="344137" cy="344137"/>
          </a:xfrm>
          <a:custGeom>
            <a:avLst/>
            <a:gdLst/>
            <a:ahLst/>
            <a:cxnLst/>
            <a:rect l="l" t="t" r="r" b="b"/>
            <a:pathLst>
              <a:path w="344137" h="344137">
                <a:moveTo>
                  <a:pt x="0" y="0"/>
                </a:moveTo>
                <a:lnTo>
                  <a:pt x="344137" y="0"/>
                </a:lnTo>
                <a:lnTo>
                  <a:pt x="344137" y="344137"/>
                </a:lnTo>
                <a:lnTo>
                  <a:pt x="0" y="3441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Freeform 13"/>
          <p:cNvSpPr/>
          <p:nvPr/>
        </p:nvSpPr>
        <p:spPr>
          <a:xfrm>
            <a:off x="2195383" y="4563087"/>
            <a:ext cx="344137" cy="344137"/>
          </a:xfrm>
          <a:custGeom>
            <a:avLst/>
            <a:gdLst/>
            <a:ahLst/>
            <a:cxnLst/>
            <a:rect l="l" t="t" r="r" b="b"/>
            <a:pathLst>
              <a:path w="344137" h="344137">
                <a:moveTo>
                  <a:pt x="0" y="0"/>
                </a:moveTo>
                <a:lnTo>
                  <a:pt x="344137" y="0"/>
                </a:lnTo>
                <a:lnTo>
                  <a:pt x="344137" y="344136"/>
                </a:lnTo>
                <a:lnTo>
                  <a:pt x="0" y="3441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Box 14"/>
          <p:cNvSpPr txBox="1"/>
          <p:nvPr/>
        </p:nvSpPr>
        <p:spPr>
          <a:xfrm>
            <a:off x="2589387" y="6618147"/>
            <a:ext cx="15698613" cy="2422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s-CL" sz="2642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Alcance restringido al Taller Santa Marta; no considera otros talleres ni otras áreas de PepsiCo Chile.</a:t>
            </a:r>
          </a:p>
          <a:p>
            <a:pPr algn="l">
              <a:lnSpc>
                <a:spcPts val="3170"/>
              </a:lnSpc>
            </a:pPr>
            <a:endParaRPr lang="es-CL" sz="2642" noProof="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170"/>
              </a:lnSpc>
            </a:pPr>
            <a:r>
              <a:rPr lang="es-CL" sz="2642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 desarrolla únicamente como aplicación web; no incluye aplicación móvil nativa.</a:t>
            </a:r>
          </a:p>
          <a:p>
            <a:pPr algn="l">
              <a:lnSpc>
                <a:spcPts val="3170"/>
              </a:lnSpc>
            </a:pPr>
            <a:endParaRPr lang="es-CL" sz="2642" noProof="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170"/>
              </a:lnSpc>
            </a:pPr>
            <a:r>
              <a:rPr lang="es-CL" sz="2642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contempla integración con sistemas corporativos externos (por ejemplo, ERP o sistemas de facturación).</a:t>
            </a:r>
          </a:p>
          <a:p>
            <a:pPr algn="l">
              <a:lnSpc>
                <a:spcPts val="3170"/>
              </a:lnSpc>
            </a:pPr>
            <a:endParaRPr lang="es-CL" sz="2642" noProof="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2176890" y="6675297"/>
            <a:ext cx="377835" cy="377835"/>
          </a:xfrm>
          <a:custGeom>
            <a:avLst/>
            <a:gdLst/>
            <a:ahLst/>
            <a:cxnLst/>
            <a:rect l="l" t="t" r="r" b="b"/>
            <a:pathLst>
              <a:path w="377835" h="377835">
                <a:moveTo>
                  <a:pt x="0" y="0"/>
                </a:moveTo>
                <a:lnTo>
                  <a:pt x="377835" y="0"/>
                </a:lnTo>
                <a:lnTo>
                  <a:pt x="377835" y="377835"/>
                </a:lnTo>
                <a:lnTo>
                  <a:pt x="0" y="377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Box 16"/>
          <p:cNvSpPr txBox="1"/>
          <p:nvPr/>
        </p:nvSpPr>
        <p:spPr>
          <a:xfrm>
            <a:off x="1324304" y="1477075"/>
            <a:ext cx="15163143" cy="563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Alcances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4305" y="5340492"/>
            <a:ext cx="15163143" cy="563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Limitaciones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0" y="927409"/>
            <a:ext cx="4499403" cy="570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Alcance</a:t>
            </a:r>
          </a:p>
        </p:txBody>
      </p:sp>
      <p:sp>
        <p:nvSpPr>
          <p:cNvPr id="19" name="Freeform 19"/>
          <p:cNvSpPr/>
          <p:nvPr/>
        </p:nvSpPr>
        <p:spPr>
          <a:xfrm>
            <a:off x="2176890" y="7492191"/>
            <a:ext cx="377835" cy="377835"/>
          </a:xfrm>
          <a:custGeom>
            <a:avLst/>
            <a:gdLst/>
            <a:ahLst/>
            <a:cxnLst/>
            <a:rect l="l" t="t" r="r" b="b"/>
            <a:pathLst>
              <a:path w="377835" h="377835">
                <a:moveTo>
                  <a:pt x="0" y="0"/>
                </a:moveTo>
                <a:lnTo>
                  <a:pt x="377835" y="0"/>
                </a:lnTo>
                <a:lnTo>
                  <a:pt x="377835" y="377835"/>
                </a:lnTo>
                <a:lnTo>
                  <a:pt x="0" y="377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Freeform 20"/>
          <p:cNvSpPr/>
          <p:nvPr/>
        </p:nvSpPr>
        <p:spPr>
          <a:xfrm>
            <a:off x="2176890" y="8297531"/>
            <a:ext cx="377835" cy="377835"/>
          </a:xfrm>
          <a:custGeom>
            <a:avLst/>
            <a:gdLst/>
            <a:ahLst/>
            <a:cxnLst/>
            <a:rect l="l" t="t" r="r" b="b"/>
            <a:pathLst>
              <a:path w="377835" h="377835">
                <a:moveTo>
                  <a:pt x="0" y="0"/>
                </a:moveTo>
                <a:lnTo>
                  <a:pt x="377835" y="0"/>
                </a:lnTo>
                <a:lnTo>
                  <a:pt x="377835" y="377835"/>
                </a:lnTo>
                <a:lnTo>
                  <a:pt x="0" y="377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526" y="838030"/>
            <a:ext cx="4168714" cy="94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3"/>
              </a:lnSpc>
            </a:pPr>
            <a:r>
              <a:rPr lang="es-CL" sz="304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Metodología Tradicional: Cascada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17678" y="5062563"/>
            <a:ext cx="5345392" cy="1381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4187" lvl="1" indent="-232093" algn="l">
              <a:lnSpc>
                <a:spcPts val="2666"/>
              </a:lnSpc>
              <a:buFont typeface="Arial"/>
              <a:buChar char="•"/>
            </a:pPr>
            <a:r>
              <a:rPr lang="es-CL" sz="2150" spc="133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Adecuada a un proyecto de alcance acotado, equipo reducido y plazo definido de 16 semanas.</a:t>
            </a:r>
          </a:p>
          <a:p>
            <a:pPr algn="l">
              <a:lnSpc>
                <a:spcPts val="2666"/>
              </a:lnSpc>
            </a:pPr>
            <a:endParaRPr lang="es-CL" sz="2150" spc="133" noProof="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2942608" y="4521963"/>
            <a:ext cx="5345392" cy="583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3"/>
              </a:lnSpc>
            </a:pPr>
            <a:r>
              <a:rPr lang="es-CL" sz="3349" spc="207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Justificación</a:t>
            </a:r>
          </a:p>
        </p:txBody>
      </p:sp>
      <p:pic>
        <p:nvPicPr>
          <p:cNvPr id="40" name="Imagen 39" descr="Diagrama&#10;&#10;El contenido generado por IA puede ser incorrecto.">
            <a:extLst>
              <a:ext uri="{FF2B5EF4-FFF2-40B4-BE49-F238E27FC236}">
                <a16:creationId xmlns:a16="http://schemas.microsoft.com/office/drawing/2014/main" id="{D996DA33-9E15-3BE1-293B-113DB24736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641" y="2438981"/>
            <a:ext cx="10085714" cy="66285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4912307" y="1256463"/>
            <a:ext cx="8754569" cy="8547769"/>
          </a:xfrm>
          <a:custGeom>
            <a:avLst/>
            <a:gdLst/>
            <a:ahLst/>
            <a:cxnLst/>
            <a:rect l="l" t="t" r="r" b="b"/>
            <a:pathLst>
              <a:path w="8754569" h="8547769">
                <a:moveTo>
                  <a:pt x="0" y="0"/>
                </a:moveTo>
                <a:lnTo>
                  <a:pt x="8754569" y="0"/>
                </a:lnTo>
                <a:lnTo>
                  <a:pt x="8754569" y="8547768"/>
                </a:lnTo>
                <a:lnTo>
                  <a:pt x="0" y="85477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0" y="1019580"/>
            <a:ext cx="4482759" cy="53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Cronograma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02030" y="5124450"/>
            <a:ext cx="5274577" cy="226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5"/>
              </a:lnSpc>
            </a:pPr>
            <a:r>
              <a:rPr lang="es-CL" sz="4221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Inicio de Proyecto: </a:t>
            </a:r>
          </a:p>
          <a:p>
            <a:pPr algn="l">
              <a:lnSpc>
                <a:spcPts val="3865"/>
              </a:lnSpc>
            </a:pPr>
            <a:r>
              <a:rPr lang="es-CL" sz="3221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 de Septiembre de 2025 </a:t>
            </a:r>
          </a:p>
          <a:p>
            <a:pPr algn="l">
              <a:lnSpc>
                <a:spcPts val="5065"/>
              </a:lnSpc>
            </a:pPr>
            <a:r>
              <a:rPr lang="es-CL" sz="4221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 de Proyecto: </a:t>
            </a:r>
          </a:p>
          <a:p>
            <a:pPr algn="l">
              <a:lnSpc>
                <a:spcPts val="3865"/>
              </a:lnSpc>
            </a:pPr>
            <a:r>
              <a:rPr lang="es-CL" sz="3221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 de Noviembre de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778307"/>
            <a:ext cx="4482759" cy="1019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Etapas principales de implementación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10338" y="2274485"/>
            <a:ext cx="1076891" cy="1076891"/>
          </a:xfrm>
          <a:custGeom>
            <a:avLst/>
            <a:gdLst/>
            <a:ahLst/>
            <a:cxnLst/>
            <a:rect l="l" t="t" r="r" b="b"/>
            <a:pathLst>
              <a:path w="1076891" h="1076891">
                <a:moveTo>
                  <a:pt x="0" y="0"/>
                </a:moveTo>
                <a:lnTo>
                  <a:pt x="1076890" y="0"/>
                </a:lnTo>
                <a:lnTo>
                  <a:pt x="1076890" y="1076891"/>
                </a:lnTo>
                <a:lnTo>
                  <a:pt x="0" y="10768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Freeform 11"/>
          <p:cNvSpPr/>
          <p:nvPr/>
        </p:nvSpPr>
        <p:spPr>
          <a:xfrm>
            <a:off x="1510338" y="3456465"/>
            <a:ext cx="1076891" cy="1076891"/>
          </a:xfrm>
          <a:custGeom>
            <a:avLst/>
            <a:gdLst/>
            <a:ahLst/>
            <a:cxnLst/>
            <a:rect l="l" t="t" r="r" b="b"/>
            <a:pathLst>
              <a:path w="1076891" h="1076891">
                <a:moveTo>
                  <a:pt x="0" y="0"/>
                </a:moveTo>
                <a:lnTo>
                  <a:pt x="1076890" y="0"/>
                </a:lnTo>
                <a:lnTo>
                  <a:pt x="1076890" y="1076891"/>
                </a:lnTo>
                <a:lnTo>
                  <a:pt x="0" y="10768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Freeform 12"/>
          <p:cNvSpPr/>
          <p:nvPr/>
        </p:nvSpPr>
        <p:spPr>
          <a:xfrm>
            <a:off x="1518825" y="4964024"/>
            <a:ext cx="1068404" cy="1068404"/>
          </a:xfrm>
          <a:custGeom>
            <a:avLst/>
            <a:gdLst/>
            <a:ahLst/>
            <a:cxnLst/>
            <a:rect l="l" t="t" r="r" b="b"/>
            <a:pathLst>
              <a:path w="1068404" h="1068404">
                <a:moveTo>
                  <a:pt x="0" y="0"/>
                </a:moveTo>
                <a:lnTo>
                  <a:pt x="1068403" y="0"/>
                </a:lnTo>
                <a:lnTo>
                  <a:pt x="1068403" y="1068404"/>
                </a:lnTo>
                <a:lnTo>
                  <a:pt x="0" y="10684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Freeform 13"/>
          <p:cNvSpPr/>
          <p:nvPr/>
        </p:nvSpPr>
        <p:spPr>
          <a:xfrm>
            <a:off x="1518825" y="6842109"/>
            <a:ext cx="1068404" cy="1068404"/>
          </a:xfrm>
          <a:custGeom>
            <a:avLst/>
            <a:gdLst/>
            <a:ahLst/>
            <a:cxnLst/>
            <a:rect l="l" t="t" r="r" b="b"/>
            <a:pathLst>
              <a:path w="1068404" h="1068404">
                <a:moveTo>
                  <a:pt x="0" y="0"/>
                </a:moveTo>
                <a:lnTo>
                  <a:pt x="1068403" y="0"/>
                </a:lnTo>
                <a:lnTo>
                  <a:pt x="1068403" y="1068403"/>
                </a:lnTo>
                <a:lnTo>
                  <a:pt x="0" y="10684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Freeform 14"/>
          <p:cNvSpPr/>
          <p:nvPr/>
        </p:nvSpPr>
        <p:spPr>
          <a:xfrm>
            <a:off x="1510338" y="8167687"/>
            <a:ext cx="1076891" cy="1076891"/>
          </a:xfrm>
          <a:custGeom>
            <a:avLst/>
            <a:gdLst/>
            <a:ahLst/>
            <a:cxnLst/>
            <a:rect l="l" t="t" r="r" b="b"/>
            <a:pathLst>
              <a:path w="1076891" h="1076891">
                <a:moveTo>
                  <a:pt x="0" y="0"/>
                </a:moveTo>
                <a:lnTo>
                  <a:pt x="1076890" y="0"/>
                </a:lnTo>
                <a:lnTo>
                  <a:pt x="1076890" y="1076891"/>
                </a:lnTo>
                <a:lnTo>
                  <a:pt x="0" y="10768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Box 15"/>
          <p:cNvSpPr txBox="1"/>
          <p:nvPr/>
        </p:nvSpPr>
        <p:spPr>
          <a:xfrm>
            <a:off x="2678538" y="2359293"/>
            <a:ext cx="6280530" cy="45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  <a:spcBef>
                <a:spcPct val="0"/>
              </a:spcBef>
            </a:pPr>
            <a:r>
              <a:rPr lang="es-CL" sz="2621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Planificación y Análisis del Proceso Actual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78538" y="2770159"/>
            <a:ext cx="15323643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757" lvl="1" indent="-248378" algn="l">
              <a:lnSpc>
                <a:spcPts val="2761"/>
              </a:lnSpc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Levantamiento de problema, objetivos y alcance.</a:t>
            </a:r>
          </a:p>
          <a:p>
            <a:pPr marL="496757" lvl="1" indent="-248378" algn="l">
              <a:lnSpc>
                <a:spcPts val="2761"/>
              </a:lnSpc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Identificación de actores clave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78538" y="3473566"/>
            <a:ext cx="6280530" cy="45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  <a:spcBef>
                <a:spcPct val="0"/>
              </a:spcBef>
            </a:pPr>
            <a:r>
              <a:rPr lang="es-CL" sz="2621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Modelado y Diseño de la Solución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78538" y="3947285"/>
            <a:ext cx="15609462" cy="142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757" lvl="1" indent="-248378" algn="l">
              <a:lnSpc>
                <a:spcPts val="2761"/>
              </a:lnSpc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Modelado del proceso y diagrama de casos de uso.</a:t>
            </a:r>
          </a:p>
          <a:p>
            <a:pPr marL="496757" lvl="1" indent="-248378" algn="l">
              <a:lnSpc>
                <a:spcPts val="2761"/>
              </a:lnSpc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Diseño de la arquitectura en 3 capas.</a:t>
            </a:r>
          </a:p>
          <a:p>
            <a:pPr marL="496757" lvl="1" indent="-248378" algn="l">
              <a:lnSpc>
                <a:spcPts val="2761"/>
              </a:lnSpc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Diseño del modelo de datos relacional.</a:t>
            </a:r>
          </a:p>
          <a:p>
            <a:pPr algn="l">
              <a:lnSpc>
                <a:spcPts val="2761"/>
              </a:lnSpc>
              <a:spcBef>
                <a:spcPct val="0"/>
              </a:spcBef>
            </a:pPr>
            <a:endParaRPr lang="es-CL" sz="2300" noProof="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678538" y="8252495"/>
            <a:ext cx="6280530" cy="45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  <a:spcBef>
                <a:spcPct val="0"/>
              </a:spcBef>
            </a:pPr>
            <a:r>
              <a:rPr lang="es-CL" sz="2621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Implementación, Cierre y Preparación Final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78538" y="8658508"/>
            <a:ext cx="15151116" cy="142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757" lvl="1" indent="-248378" algn="l">
              <a:lnSpc>
                <a:spcPts val="2761"/>
              </a:lnSpc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Despliegue</a:t>
            </a:r>
          </a:p>
          <a:p>
            <a:pPr marL="496757" lvl="1" indent="-248378" algn="l">
              <a:lnSpc>
                <a:spcPts val="2761"/>
              </a:lnSpc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Documentación técnica e informe final del proyecto.</a:t>
            </a:r>
          </a:p>
          <a:p>
            <a:pPr marL="496757" lvl="1" indent="-248378" algn="l">
              <a:lnSpc>
                <a:spcPts val="2761"/>
              </a:lnSpc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Preparación de la presentación final ante la comisión.</a:t>
            </a:r>
          </a:p>
          <a:p>
            <a:pPr algn="l">
              <a:lnSpc>
                <a:spcPts val="2761"/>
              </a:lnSpc>
              <a:spcBef>
                <a:spcPct val="0"/>
              </a:spcBef>
            </a:pPr>
            <a:endParaRPr lang="es-CL" sz="2300" noProof="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678538" y="5029176"/>
            <a:ext cx="6280530" cy="45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  <a:spcBef>
                <a:spcPct val="0"/>
              </a:spcBef>
            </a:pPr>
            <a:r>
              <a:rPr lang="es-CL" sz="2621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Construcción del MVP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78538" y="5450601"/>
            <a:ext cx="13899353" cy="142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757" lvl="1" indent="-248378" algn="l">
              <a:lnSpc>
                <a:spcPts val="2761"/>
              </a:lnSpc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Interfaces y lógica de Negocio.</a:t>
            </a:r>
          </a:p>
          <a:p>
            <a:pPr marL="496757" lvl="1" indent="-248378" algn="l">
              <a:lnSpc>
                <a:spcPts val="2761"/>
              </a:lnSpc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Desarrollo del </a:t>
            </a:r>
            <a:r>
              <a:rPr lang="es-CL" sz="2300" noProof="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Backend</a:t>
            </a:r>
            <a:endParaRPr lang="es-CL" sz="2300" noProof="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496757" lvl="1" indent="-248378" algn="l">
              <a:lnSpc>
                <a:spcPts val="2761"/>
              </a:lnSpc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Desarrollo del </a:t>
            </a:r>
            <a:r>
              <a:rPr lang="es-CL" sz="2300" noProof="0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frontend</a:t>
            </a: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marL="496757" lvl="1" indent="-248378" algn="l">
              <a:lnSpc>
                <a:spcPts val="2761"/>
              </a:lnSpc>
              <a:spcBef>
                <a:spcPct val="0"/>
              </a:spcBef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Implementación de los módulos del Sistema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78538" y="6784959"/>
            <a:ext cx="6280530" cy="45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5"/>
              </a:lnSpc>
              <a:spcBef>
                <a:spcPct val="0"/>
              </a:spcBef>
            </a:pPr>
            <a:r>
              <a:rPr lang="es-CL" sz="2621" b="1" noProof="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Integración y Pruebas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78538" y="7240502"/>
            <a:ext cx="14328901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757" lvl="1" indent="-248378" algn="l">
              <a:lnSpc>
                <a:spcPts val="2761"/>
              </a:lnSpc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Pruebas funcionales</a:t>
            </a:r>
          </a:p>
          <a:p>
            <a:pPr marL="496757" lvl="1" indent="-248378" algn="l">
              <a:lnSpc>
                <a:spcPts val="2761"/>
              </a:lnSpc>
              <a:spcBef>
                <a:spcPct val="0"/>
              </a:spcBef>
              <a:buFont typeface="Arial"/>
              <a:buChar char="•"/>
            </a:pPr>
            <a:r>
              <a:rPr lang="es-CL" sz="2300" noProof="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Pruebas de seguridad y rendimiento y corrección de hallazgos hasta 0 defectos críticos.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3655854" y="1028700"/>
            <a:ext cx="10976292" cy="8191058"/>
          </a:xfrm>
          <a:custGeom>
            <a:avLst/>
            <a:gdLst/>
            <a:ahLst/>
            <a:cxnLst/>
            <a:rect l="l" t="t" r="r" b="b"/>
            <a:pathLst>
              <a:path w="10976292" h="8191058">
                <a:moveTo>
                  <a:pt x="0" y="0"/>
                </a:moveTo>
                <a:lnTo>
                  <a:pt x="10976292" y="0"/>
                </a:lnTo>
                <a:lnTo>
                  <a:pt x="10976292" y="8191058"/>
                </a:lnTo>
                <a:lnTo>
                  <a:pt x="0" y="81910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889544" y="778307"/>
            <a:ext cx="270367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Casos de uso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46842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8" y="146842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1092624" y="1386227"/>
            <a:ext cx="16102752" cy="7738406"/>
          </a:xfrm>
          <a:custGeom>
            <a:avLst/>
            <a:gdLst/>
            <a:ahLst/>
            <a:cxnLst/>
            <a:rect l="l" t="t" r="r" b="b"/>
            <a:pathLst>
              <a:path w="16102752" h="7738406">
                <a:moveTo>
                  <a:pt x="0" y="0"/>
                </a:moveTo>
                <a:lnTo>
                  <a:pt x="16102752" y="0"/>
                </a:lnTo>
                <a:lnTo>
                  <a:pt x="16102752" y="7738405"/>
                </a:lnTo>
                <a:lnTo>
                  <a:pt x="0" y="77384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908" t="-853" r="-361" b="-853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29036" y="172971"/>
            <a:ext cx="4441012" cy="101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Arquitectura del software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88748" y="723849"/>
            <a:ext cx="4407450" cy="1036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Modelo de </a:t>
            </a:r>
          </a:p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Datos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892278" y="408536"/>
            <a:ext cx="15367022" cy="9469927"/>
          </a:xfrm>
          <a:custGeom>
            <a:avLst/>
            <a:gdLst/>
            <a:ahLst/>
            <a:cxnLst/>
            <a:rect l="l" t="t" r="r" b="b"/>
            <a:pathLst>
              <a:path w="15367022" h="9469927">
                <a:moveTo>
                  <a:pt x="0" y="0"/>
                </a:moveTo>
                <a:lnTo>
                  <a:pt x="15367022" y="0"/>
                </a:lnTo>
                <a:lnTo>
                  <a:pt x="15367022" y="9469928"/>
                </a:lnTo>
                <a:lnTo>
                  <a:pt x="0" y="94699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2545475" y="2848959"/>
            <a:ext cx="1327101" cy="889062"/>
          </a:xfrm>
          <a:custGeom>
            <a:avLst/>
            <a:gdLst/>
            <a:ahLst/>
            <a:cxnLst/>
            <a:rect l="l" t="t" r="r" b="b"/>
            <a:pathLst>
              <a:path w="1327101" h="889062">
                <a:moveTo>
                  <a:pt x="0" y="0"/>
                </a:moveTo>
                <a:lnTo>
                  <a:pt x="1327101" y="0"/>
                </a:lnTo>
                <a:lnTo>
                  <a:pt x="1327101" y="889062"/>
                </a:lnTo>
                <a:lnTo>
                  <a:pt x="0" y="8890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936" r="-1904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4125376" y="2778276"/>
            <a:ext cx="995021" cy="949235"/>
          </a:xfrm>
          <a:custGeom>
            <a:avLst/>
            <a:gdLst/>
            <a:ahLst/>
            <a:cxnLst/>
            <a:rect l="l" t="t" r="r" b="b"/>
            <a:pathLst>
              <a:path w="995021" h="949235">
                <a:moveTo>
                  <a:pt x="0" y="0"/>
                </a:moveTo>
                <a:lnTo>
                  <a:pt x="995021" y="0"/>
                </a:lnTo>
                <a:lnTo>
                  <a:pt x="995021" y="949235"/>
                </a:lnTo>
                <a:lnTo>
                  <a:pt x="0" y="9492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0713" r="-49041" b="-2339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Freeform 11"/>
          <p:cNvSpPr/>
          <p:nvPr/>
        </p:nvSpPr>
        <p:spPr>
          <a:xfrm>
            <a:off x="5120397" y="2749426"/>
            <a:ext cx="1059279" cy="1059279"/>
          </a:xfrm>
          <a:custGeom>
            <a:avLst/>
            <a:gdLst/>
            <a:ahLst/>
            <a:cxnLst/>
            <a:rect l="l" t="t" r="r" b="b"/>
            <a:pathLst>
              <a:path w="1059279" h="1059279">
                <a:moveTo>
                  <a:pt x="0" y="0"/>
                </a:moveTo>
                <a:lnTo>
                  <a:pt x="1059279" y="0"/>
                </a:lnTo>
                <a:lnTo>
                  <a:pt x="1059279" y="1059279"/>
                </a:lnTo>
                <a:lnTo>
                  <a:pt x="0" y="1059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Freeform 12"/>
          <p:cNvSpPr/>
          <p:nvPr/>
        </p:nvSpPr>
        <p:spPr>
          <a:xfrm>
            <a:off x="6179676" y="2767765"/>
            <a:ext cx="1099453" cy="941406"/>
          </a:xfrm>
          <a:custGeom>
            <a:avLst/>
            <a:gdLst/>
            <a:ahLst/>
            <a:cxnLst/>
            <a:rect l="l" t="t" r="r" b="b"/>
            <a:pathLst>
              <a:path w="1099453" h="941406">
                <a:moveTo>
                  <a:pt x="0" y="0"/>
                </a:moveTo>
                <a:lnTo>
                  <a:pt x="1099453" y="0"/>
                </a:lnTo>
                <a:lnTo>
                  <a:pt x="1099453" y="941406"/>
                </a:lnTo>
                <a:lnTo>
                  <a:pt x="0" y="9414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Freeform 13"/>
          <p:cNvSpPr/>
          <p:nvPr/>
        </p:nvSpPr>
        <p:spPr>
          <a:xfrm>
            <a:off x="3499159" y="4013056"/>
            <a:ext cx="1252434" cy="1252434"/>
          </a:xfrm>
          <a:custGeom>
            <a:avLst/>
            <a:gdLst/>
            <a:ahLst/>
            <a:cxnLst/>
            <a:rect l="l" t="t" r="r" b="b"/>
            <a:pathLst>
              <a:path w="1252434" h="1252434">
                <a:moveTo>
                  <a:pt x="0" y="0"/>
                </a:moveTo>
                <a:lnTo>
                  <a:pt x="1252434" y="0"/>
                </a:lnTo>
                <a:lnTo>
                  <a:pt x="1252434" y="1252434"/>
                </a:lnTo>
                <a:lnTo>
                  <a:pt x="0" y="1252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Freeform 14"/>
          <p:cNvSpPr/>
          <p:nvPr/>
        </p:nvSpPr>
        <p:spPr>
          <a:xfrm>
            <a:off x="4732259" y="3984727"/>
            <a:ext cx="908041" cy="1280763"/>
          </a:xfrm>
          <a:custGeom>
            <a:avLst/>
            <a:gdLst/>
            <a:ahLst/>
            <a:cxnLst/>
            <a:rect l="l" t="t" r="r" b="b"/>
            <a:pathLst>
              <a:path w="908041" h="1280763">
                <a:moveTo>
                  <a:pt x="0" y="0"/>
                </a:moveTo>
                <a:lnTo>
                  <a:pt x="908041" y="0"/>
                </a:lnTo>
                <a:lnTo>
                  <a:pt x="908041" y="1280763"/>
                </a:lnTo>
                <a:lnTo>
                  <a:pt x="0" y="128076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Freeform 15"/>
          <p:cNvSpPr/>
          <p:nvPr/>
        </p:nvSpPr>
        <p:spPr>
          <a:xfrm>
            <a:off x="10261105" y="2892535"/>
            <a:ext cx="2140925" cy="759055"/>
          </a:xfrm>
          <a:custGeom>
            <a:avLst/>
            <a:gdLst/>
            <a:ahLst/>
            <a:cxnLst/>
            <a:rect l="l" t="t" r="r" b="b"/>
            <a:pathLst>
              <a:path w="2140925" h="759055">
                <a:moveTo>
                  <a:pt x="0" y="0"/>
                </a:moveTo>
                <a:lnTo>
                  <a:pt x="2140925" y="0"/>
                </a:lnTo>
                <a:lnTo>
                  <a:pt x="2140925" y="759056"/>
                </a:lnTo>
                <a:lnTo>
                  <a:pt x="0" y="75905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Freeform 16"/>
          <p:cNvSpPr/>
          <p:nvPr/>
        </p:nvSpPr>
        <p:spPr>
          <a:xfrm>
            <a:off x="12533431" y="2749426"/>
            <a:ext cx="2366659" cy="1045274"/>
          </a:xfrm>
          <a:custGeom>
            <a:avLst/>
            <a:gdLst/>
            <a:ahLst/>
            <a:cxnLst/>
            <a:rect l="l" t="t" r="r" b="b"/>
            <a:pathLst>
              <a:path w="2366659" h="1045274">
                <a:moveTo>
                  <a:pt x="0" y="0"/>
                </a:moveTo>
                <a:lnTo>
                  <a:pt x="2366659" y="0"/>
                </a:lnTo>
                <a:lnTo>
                  <a:pt x="2366659" y="1045274"/>
                </a:lnTo>
                <a:lnTo>
                  <a:pt x="0" y="104527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Freeform 17"/>
          <p:cNvSpPr/>
          <p:nvPr/>
        </p:nvSpPr>
        <p:spPr>
          <a:xfrm>
            <a:off x="10788856" y="3887220"/>
            <a:ext cx="3489150" cy="996867"/>
          </a:xfrm>
          <a:custGeom>
            <a:avLst/>
            <a:gdLst/>
            <a:ahLst/>
            <a:cxnLst/>
            <a:rect l="l" t="t" r="r" b="b"/>
            <a:pathLst>
              <a:path w="3489150" h="996867">
                <a:moveTo>
                  <a:pt x="0" y="0"/>
                </a:moveTo>
                <a:lnTo>
                  <a:pt x="3489150" y="0"/>
                </a:lnTo>
                <a:lnTo>
                  <a:pt x="3489150" y="996868"/>
                </a:lnTo>
                <a:lnTo>
                  <a:pt x="0" y="99686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t="-115306" b="-134705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8" name="Freeform 18"/>
          <p:cNvSpPr/>
          <p:nvPr/>
        </p:nvSpPr>
        <p:spPr>
          <a:xfrm>
            <a:off x="2988155" y="6414492"/>
            <a:ext cx="3848294" cy="740797"/>
          </a:xfrm>
          <a:custGeom>
            <a:avLst/>
            <a:gdLst/>
            <a:ahLst/>
            <a:cxnLst/>
            <a:rect l="l" t="t" r="r" b="b"/>
            <a:pathLst>
              <a:path w="3848294" h="740797">
                <a:moveTo>
                  <a:pt x="0" y="0"/>
                </a:moveTo>
                <a:lnTo>
                  <a:pt x="3848294" y="0"/>
                </a:lnTo>
                <a:lnTo>
                  <a:pt x="3848294" y="740797"/>
                </a:lnTo>
                <a:lnTo>
                  <a:pt x="0" y="74079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Freeform 19"/>
          <p:cNvSpPr/>
          <p:nvPr/>
        </p:nvSpPr>
        <p:spPr>
          <a:xfrm>
            <a:off x="3993048" y="7299459"/>
            <a:ext cx="2186628" cy="2190575"/>
          </a:xfrm>
          <a:custGeom>
            <a:avLst/>
            <a:gdLst/>
            <a:ahLst/>
            <a:cxnLst/>
            <a:rect l="l" t="t" r="r" b="b"/>
            <a:pathLst>
              <a:path w="2186628" h="2190575">
                <a:moveTo>
                  <a:pt x="0" y="0"/>
                </a:moveTo>
                <a:lnTo>
                  <a:pt x="2186628" y="0"/>
                </a:lnTo>
                <a:lnTo>
                  <a:pt x="2186628" y="2190575"/>
                </a:lnTo>
                <a:lnTo>
                  <a:pt x="0" y="21905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Freeform 20"/>
          <p:cNvSpPr/>
          <p:nvPr/>
        </p:nvSpPr>
        <p:spPr>
          <a:xfrm>
            <a:off x="14339928" y="6313277"/>
            <a:ext cx="1463223" cy="1254036"/>
          </a:xfrm>
          <a:custGeom>
            <a:avLst/>
            <a:gdLst/>
            <a:ahLst/>
            <a:cxnLst/>
            <a:rect l="l" t="t" r="r" b="b"/>
            <a:pathLst>
              <a:path w="1463223" h="1254036">
                <a:moveTo>
                  <a:pt x="0" y="0"/>
                </a:moveTo>
                <a:lnTo>
                  <a:pt x="1463223" y="0"/>
                </a:lnTo>
                <a:lnTo>
                  <a:pt x="1463223" y="1254037"/>
                </a:lnTo>
                <a:lnTo>
                  <a:pt x="0" y="125403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26499" r="-25862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Freeform 21"/>
          <p:cNvSpPr/>
          <p:nvPr/>
        </p:nvSpPr>
        <p:spPr>
          <a:xfrm>
            <a:off x="10030695" y="6313277"/>
            <a:ext cx="4071334" cy="1235610"/>
          </a:xfrm>
          <a:custGeom>
            <a:avLst/>
            <a:gdLst/>
            <a:ahLst/>
            <a:cxnLst/>
            <a:rect l="l" t="t" r="r" b="b"/>
            <a:pathLst>
              <a:path w="4071334" h="1235610">
                <a:moveTo>
                  <a:pt x="0" y="0"/>
                </a:moveTo>
                <a:lnTo>
                  <a:pt x="4071334" y="0"/>
                </a:lnTo>
                <a:lnTo>
                  <a:pt x="4071334" y="1235610"/>
                </a:lnTo>
                <a:lnTo>
                  <a:pt x="0" y="123561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Freeform 22"/>
          <p:cNvSpPr/>
          <p:nvPr/>
        </p:nvSpPr>
        <p:spPr>
          <a:xfrm>
            <a:off x="11328417" y="7957839"/>
            <a:ext cx="2949589" cy="873816"/>
          </a:xfrm>
          <a:custGeom>
            <a:avLst/>
            <a:gdLst/>
            <a:ahLst/>
            <a:cxnLst/>
            <a:rect l="l" t="t" r="r" b="b"/>
            <a:pathLst>
              <a:path w="2949589" h="873816">
                <a:moveTo>
                  <a:pt x="0" y="0"/>
                </a:moveTo>
                <a:lnTo>
                  <a:pt x="2949589" y="0"/>
                </a:lnTo>
                <a:lnTo>
                  <a:pt x="2949589" y="873816"/>
                </a:lnTo>
                <a:lnTo>
                  <a:pt x="0" y="87381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3" name="Freeform 23"/>
          <p:cNvSpPr/>
          <p:nvPr/>
        </p:nvSpPr>
        <p:spPr>
          <a:xfrm>
            <a:off x="14339928" y="7719714"/>
            <a:ext cx="1350066" cy="1350066"/>
          </a:xfrm>
          <a:custGeom>
            <a:avLst/>
            <a:gdLst/>
            <a:ahLst/>
            <a:cxnLst/>
            <a:rect l="l" t="t" r="r" b="b"/>
            <a:pathLst>
              <a:path w="1350066" h="1350066">
                <a:moveTo>
                  <a:pt x="0" y="0"/>
                </a:moveTo>
                <a:lnTo>
                  <a:pt x="1350065" y="0"/>
                </a:lnTo>
                <a:lnTo>
                  <a:pt x="1350065" y="1350066"/>
                </a:lnTo>
                <a:lnTo>
                  <a:pt x="0" y="135006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Freeform 24"/>
          <p:cNvSpPr/>
          <p:nvPr/>
        </p:nvSpPr>
        <p:spPr>
          <a:xfrm>
            <a:off x="9835509" y="7844162"/>
            <a:ext cx="1290586" cy="1290586"/>
          </a:xfrm>
          <a:custGeom>
            <a:avLst/>
            <a:gdLst/>
            <a:ahLst/>
            <a:cxnLst/>
            <a:rect l="l" t="t" r="r" b="b"/>
            <a:pathLst>
              <a:path w="1290586" h="1290586">
                <a:moveTo>
                  <a:pt x="0" y="0"/>
                </a:moveTo>
                <a:lnTo>
                  <a:pt x="1290586" y="0"/>
                </a:lnTo>
                <a:lnTo>
                  <a:pt x="1290586" y="1290586"/>
                </a:lnTo>
                <a:lnTo>
                  <a:pt x="0" y="129058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Box 25"/>
          <p:cNvSpPr txBox="1"/>
          <p:nvPr/>
        </p:nvSpPr>
        <p:spPr>
          <a:xfrm>
            <a:off x="1" y="728123"/>
            <a:ext cx="4441012" cy="1036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Tecnologías del proyecto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51743" y="1962483"/>
            <a:ext cx="6321118" cy="63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9"/>
              </a:lnSpc>
            </a:pPr>
            <a:r>
              <a:rPr lang="es-CL" sz="4032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Frontend</a:t>
            </a:r>
            <a:endParaRPr lang="es-CL" sz="4032" b="1" noProof="0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482033" y="1962483"/>
            <a:ext cx="6321118" cy="63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9"/>
              </a:lnSpc>
            </a:pPr>
            <a:r>
              <a:rPr lang="es-CL" sz="4032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Backend</a:t>
            </a:r>
            <a:endParaRPr lang="es-CL" sz="4032" b="1" noProof="0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718850" y="5585780"/>
            <a:ext cx="6354011" cy="628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5"/>
              </a:lnSpc>
            </a:pPr>
            <a:r>
              <a:rPr lang="es-CL" sz="4029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Datos y </a:t>
            </a:r>
            <a:r>
              <a:rPr lang="es-CL" sz="4029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Auth</a:t>
            </a:r>
            <a:endParaRPr lang="es-CL" sz="4029" b="1" noProof="0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482033" y="5532190"/>
            <a:ext cx="7234342" cy="628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9"/>
              </a:lnSpc>
            </a:pPr>
            <a:r>
              <a:rPr lang="es-CL" sz="4032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Herramientas de apoyo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9149" y="291164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 lang="es-CL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0" y="797208"/>
            <a:ext cx="4499085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  <a:spcBef>
                <a:spcPct val="0"/>
              </a:spcBef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Pruebas de </a:t>
            </a:r>
          </a:p>
          <a:p>
            <a:pPr algn="ctr">
              <a:lnSpc>
                <a:spcPts val="3929"/>
              </a:lnSpc>
              <a:spcBef>
                <a:spcPct val="0"/>
              </a:spcBef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Seguridad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DA57154-7553-6183-BDCD-B45237B55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57" y="2019300"/>
            <a:ext cx="16448286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930706" y="4133092"/>
            <a:ext cx="7020613" cy="5125208"/>
          </a:xfrm>
          <a:custGeom>
            <a:avLst/>
            <a:gdLst/>
            <a:ahLst/>
            <a:cxnLst/>
            <a:rect l="l" t="t" r="r" b="b"/>
            <a:pathLst>
              <a:path w="7020613" h="5125208">
                <a:moveTo>
                  <a:pt x="0" y="0"/>
                </a:moveTo>
                <a:lnTo>
                  <a:pt x="7020613" y="0"/>
                </a:lnTo>
                <a:lnTo>
                  <a:pt x="7020613" y="5125208"/>
                </a:lnTo>
                <a:lnTo>
                  <a:pt x="0" y="5125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986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8308690" y="4311530"/>
            <a:ext cx="9727396" cy="4768331"/>
          </a:xfrm>
          <a:custGeom>
            <a:avLst/>
            <a:gdLst/>
            <a:ahLst/>
            <a:cxnLst/>
            <a:rect l="l" t="t" r="r" b="b"/>
            <a:pathLst>
              <a:path w="9727396" h="4768331">
                <a:moveTo>
                  <a:pt x="0" y="0"/>
                </a:moveTo>
                <a:lnTo>
                  <a:pt x="9727396" y="0"/>
                </a:lnTo>
                <a:lnTo>
                  <a:pt x="9727396" y="4768332"/>
                </a:lnTo>
                <a:lnTo>
                  <a:pt x="0" y="47683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" y="728123"/>
            <a:ext cx="4441012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Pruebas de </a:t>
            </a:r>
          </a:p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Seguridad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65437" y="2004473"/>
            <a:ext cx="5743253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9"/>
              </a:lnSpc>
            </a:pPr>
            <a:r>
              <a:rPr lang="es-CL" sz="30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Pruebas de </a:t>
            </a:r>
            <a:r>
              <a:rPr lang="es-CL" sz="3074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Analisís</a:t>
            </a:r>
            <a:r>
              <a:rPr lang="es-CL" sz="30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de </a:t>
            </a:r>
            <a:r>
              <a:rPr lang="es-CL" sz="3074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Codigo</a:t>
            </a:r>
            <a:r>
              <a:rPr lang="es-CL" sz="30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s-CL" sz="3074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Estatico</a:t>
            </a:r>
            <a:r>
              <a:rPr lang="es-CL" sz="30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(</a:t>
            </a:r>
            <a:r>
              <a:rPr lang="es-CL" sz="3074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Frontend</a:t>
            </a:r>
            <a:r>
              <a:rPr lang="es-CL" sz="30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04904" y="3147473"/>
            <a:ext cx="426432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9"/>
              </a:lnSpc>
              <a:spcBef>
                <a:spcPct val="0"/>
              </a:spcBef>
            </a:pPr>
            <a:r>
              <a:rPr lang="es-CL" sz="2674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Motor de Análisis: </a:t>
            </a:r>
            <a:r>
              <a:rPr lang="es-CL" sz="2674" noProof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ESLint</a:t>
            </a:r>
            <a:r>
              <a:rPr lang="es-CL" sz="2674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v9.37.0.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14916" y="1966373"/>
            <a:ext cx="5714944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Pruebas de </a:t>
            </a:r>
            <a:r>
              <a:rPr lang="es-CL" sz="3274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Analisís</a:t>
            </a: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de </a:t>
            </a:r>
            <a:r>
              <a:rPr lang="es-CL" sz="3274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Codigo</a:t>
            </a: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s-CL" sz="3274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Dinamico</a:t>
            </a: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(</a:t>
            </a:r>
            <a:r>
              <a:rPr lang="es-CL" sz="3274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Frontend</a:t>
            </a: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23849" y="3229439"/>
            <a:ext cx="3944751" cy="819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09"/>
              </a:lnSpc>
              <a:spcBef>
                <a:spcPct val="0"/>
              </a:spcBef>
            </a:pPr>
            <a:r>
              <a:rPr lang="es-CL" sz="2674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Herramienta: </a:t>
            </a:r>
          </a:p>
          <a:p>
            <a:pPr algn="ctr">
              <a:lnSpc>
                <a:spcPts val="3209"/>
              </a:lnSpc>
              <a:spcBef>
                <a:spcPct val="0"/>
              </a:spcBef>
            </a:pPr>
            <a:r>
              <a:rPr lang="es-CL" sz="2674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OWASP ZAP v2.16.1.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1510089" y="4730850"/>
            <a:ext cx="7000437" cy="4830618"/>
          </a:xfrm>
          <a:custGeom>
            <a:avLst/>
            <a:gdLst/>
            <a:ahLst/>
            <a:cxnLst/>
            <a:rect l="l" t="t" r="r" b="b"/>
            <a:pathLst>
              <a:path w="7000437" h="4830618">
                <a:moveTo>
                  <a:pt x="0" y="0"/>
                </a:moveTo>
                <a:lnTo>
                  <a:pt x="7000437" y="0"/>
                </a:lnTo>
                <a:lnTo>
                  <a:pt x="7000437" y="4830618"/>
                </a:lnTo>
                <a:lnTo>
                  <a:pt x="0" y="48306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9144000" y="4730850"/>
            <a:ext cx="7923037" cy="4527450"/>
          </a:xfrm>
          <a:custGeom>
            <a:avLst/>
            <a:gdLst/>
            <a:ahLst/>
            <a:cxnLst/>
            <a:rect l="l" t="t" r="r" b="b"/>
            <a:pathLst>
              <a:path w="7923037" h="4527450">
                <a:moveTo>
                  <a:pt x="0" y="0"/>
                </a:moveTo>
                <a:lnTo>
                  <a:pt x="7923037" y="0"/>
                </a:lnTo>
                <a:lnTo>
                  <a:pt x="7923037" y="4527450"/>
                </a:lnTo>
                <a:lnTo>
                  <a:pt x="0" y="45274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" y="728123"/>
            <a:ext cx="4441012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Pruebas de </a:t>
            </a:r>
          </a:p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Seguridad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10544" y="2300377"/>
            <a:ext cx="5148752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Análisis Dinámico de Seguridad (</a:t>
            </a:r>
            <a:r>
              <a:rPr lang="es-CL" sz="3274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Backend</a:t>
            </a: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API)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01685" y="3762439"/>
            <a:ext cx="536647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4"/>
              </a:lnSpc>
              <a:spcBef>
                <a:spcPct val="0"/>
              </a:spcBef>
            </a:pPr>
            <a:r>
              <a:rPr lang="es-CL" sz="262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Herramienta: OWASP ZAP Versión 2.16.1.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858528" y="2069996"/>
            <a:ext cx="4441012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Análisis Estático de Seguridad (</a:t>
            </a:r>
            <a:r>
              <a:rPr lang="es-CL" sz="3274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Backend</a:t>
            </a: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95799" y="3511768"/>
            <a:ext cx="536647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4"/>
              </a:lnSpc>
              <a:spcBef>
                <a:spcPct val="0"/>
              </a:spcBef>
            </a:pPr>
            <a:r>
              <a:rPr lang="es-CL" sz="262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Herramienta: </a:t>
            </a:r>
          </a:p>
          <a:p>
            <a:pPr algn="ctr">
              <a:lnSpc>
                <a:spcPts val="3144"/>
              </a:lnSpc>
              <a:spcBef>
                <a:spcPct val="0"/>
              </a:spcBef>
            </a:pPr>
            <a:r>
              <a:rPr lang="es-CL" sz="2620" noProof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Bandit</a:t>
            </a:r>
            <a:r>
              <a:rPr lang="es-CL" sz="2620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228600" y="3032607"/>
            <a:ext cx="8229600" cy="3253894"/>
          </a:xfrm>
          <a:custGeom>
            <a:avLst/>
            <a:gdLst/>
            <a:ahLst/>
            <a:cxnLst/>
            <a:rect l="l" t="t" r="r" b="b"/>
            <a:pathLst>
              <a:path w="7995330" h="3258865">
                <a:moveTo>
                  <a:pt x="0" y="0"/>
                </a:moveTo>
                <a:lnTo>
                  <a:pt x="7995330" y="0"/>
                </a:lnTo>
                <a:lnTo>
                  <a:pt x="7995330" y="3258864"/>
                </a:lnTo>
                <a:lnTo>
                  <a:pt x="0" y="32588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5676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8702629" y="3122587"/>
            <a:ext cx="9127063" cy="4041826"/>
          </a:xfrm>
          <a:custGeom>
            <a:avLst/>
            <a:gdLst/>
            <a:ahLst/>
            <a:cxnLst/>
            <a:rect l="l" t="t" r="r" b="b"/>
            <a:pathLst>
              <a:path w="8894004" h="3957832">
                <a:moveTo>
                  <a:pt x="0" y="0"/>
                </a:moveTo>
                <a:lnTo>
                  <a:pt x="8894003" y="0"/>
                </a:lnTo>
                <a:lnTo>
                  <a:pt x="8894003" y="3957832"/>
                </a:lnTo>
                <a:lnTo>
                  <a:pt x="0" y="39578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" y="728123"/>
            <a:ext cx="4441012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Pruebas de rendimiento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75374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75374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1644967" y="3373499"/>
            <a:ext cx="8036019" cy="5544853"/>
          </a:xfrm>
          <a:custGeom>
            <a:avLst/>
            <a:gdLst/>
            <a:ahLst/>
            <a:cxnLst/>
            <a:rect l="l" t="t" r="r" b="b"/>
            <a:pathLst>
              <a:path w="8036019" h="5544853">
                <a:moveTo>
                  <a:pt x="0" y="0"/>
                </a:moveTo>
                <a:lnTo>
                  <a:pt x="8036018" y="0"/>
                </a:lnTo>
                <a:lnTo>
                  <a:pt x="8036018" y="5544853"/>
                </a:lnTo>
                <a:lnTo>
                  <a:pt x="0" y="55448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9970763" y="3283182"/>
            <a:ext cx="7637986" cy="6018199"/>
          </a:xfrm>
          <a:custGeom>
            <a:avLst/>
            <a:gdLst/>
            <a:ahLst/>
            <a:cxnLst/>
            <a:rect l="l" t="t" r="r" b="b"/>
            <a:pathLst>
              <a:path w="7637986" h="6018199">
                <a:moveTo>
                  <a:pt x="0" y="0"/>
                </a:moveTo>
                <a:lnTo>
                  <a:pt x="7637986" y="0"/>
                </a:lnTo>
                <a:lnTo>
                  <a:pt x="7637986" y="6018199"/>
                </a:lnTo>
                <a:lnTo>
                  <a:pt x="0" y="6018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49240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" y="728123"/>
            <a:ext cx="444101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Pruebas Rendimiento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42291" y="1007395"/>
            <a:ext cx="1020341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  <a:spcBef>
                <a:spcPct val="0"/>
              </a:spcBef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Auditoría de Calidad y Rendimiento Web (</a:t>
            </a:r>
            <a:r>
              <a:rPr lang="es-CL" sz="3274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Frontend</a:t>
            </a: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20219" y="2230684"/>
            <a:ext cx="524756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  <a:spcBef>
                <a:spcPct val="0"/>
              </a:spcBef>
            </a:pPr>
            <a:r>
              <a:rPr lang="es-CL" sz="3274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</a:t>
            </a:r>
            <a:r>
              <a:rPr lang="es-CL" sz="3274" noProof="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Lighthouse</a:t>
            </a:r>
            <a:r>
              <a:rPr lang="es-CL" sz="3274" noProof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(v12.2.0)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680985" y="6145925"/>
            <a:ext cx="119696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CL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696597"/>
            <a:ext cx="4499085" cy="1062636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6309" y="696597"/>
            <a:ext cx="138611" cy="1062636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719095" y="2077392"/>
            <a:ext cx="8273179" cy="4559297"/>
          </a:xfrm>
          <a:custGeom>
            <a:avLst/>
            <a:gdLst/>
            <a:ahLst/>
            <a:cxnLst/>
            <a:rect l="l" t="t" r="r" b="b"/>
            <a:pathLst>
              <a:path w="8273179" h="4559297">
                <a:moveTo>
                  <a:pt x="0" y="0"/>
                </a:moveTo>
                <a:lnTo>
                  <a:pt x="8273179" y="0"/>
                </a:lnTo>
                <a:lnTo>
                  <a:pt x="8273179" y="4559297"/>
                </a:lnTo>
                <a:lnTo>
                  <a:pt x="0" y="45592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4811"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Freeform 10"/>
          <p:cNvSpPr/>
          <p:nvPr/>
        </p:nvSpPr>
        <p:spPr>
          <a:xfrm>
            <a:off x="9943579" y="1028700"/>
            <a:ext cx="6827755" cy="8311102"/>
          </a:xfrm>
          <a:custGeom>
            <a:avLst/>
            <a:gdLst/>
            <a:ahLst/>
            <a:cxnLst/>
            <a:rect l="l" t="t" r="r" b="b"/>
            <a:pathLst>
              <a:path w="6827755" h="8311102">
                <a:moveTo>
                  <a:pt x="0" y="0"/>
                </a:moveTo>
                <a:lnTo>
                  <a:pt x="6827755" y="0"/>
                </a:lnTo>
                <a:lnTo>
                  <a:pt x="6827755" y="8311102"/>
                </a:lnTo>
                <a:lnTo>
                  <a:pt x="0" y="83111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" y="670973"/>
            <a:ext cx="4441012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3274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Pruebas Unitarias y</a:t>
            </a:r>
          </a:p>
          <a:p>
            <a:pPr algn="ctr">
              <a:lnSpc>
                <a:spcPts val="3929"/>
              </a:lnSpc>
            </a:pPr>
            <a:r>
              <a:rPr lang="es-CL" sz="3274" b="1" noProof="0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Endpoints</a:t>
            </a:r>
            <a:endParaRPr lang="es-CL" sz="3274" b="1" noProof="0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2">
            <a:extLst>
              <a:ext uri="{FF2B5EF4-FFF2-40B4-BE49-F238E27FC236}">
                <a16:creationId xmlns:a16="http://schemas.microsoft.com/office/drawing/2014/main" id="{031E69E7-D7F2-F6EA-C9A8-F344E8021729}"/>
              </a:ext>
            </a:extLst>
          </p:cNvPr>
          <p:cNvSpPr txBox="1"/>
          <p:nvPr/>
        </p:nvSpPr>
        <p:spPr>
          <a:xfrm>
            <a:off x="4598572" y="4859640"/>
            <a:ext cx="9090856" cy="567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29"/>
              </a:lnSpc>
            </a:pPr>
            <a:r>
              <a:rPr lang="es-CL" sz="6600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Demostración Video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13207" y="1544421"/>
            <a:ext cx="6397344" cy="1510984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277699" y="1544421"/>
            <a:ext cx="197094" cy="1510984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232955" y="1601528"/>
            <a:ext cx="5617180" cy="1664065"/>
            <a:chOff x="0" y="0"/>
            <a:chExt cx="5267221" cy="15603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67221" cy="1560391"/>
            </a:xfrm>
            <a:custGeom>
              <a:avLst/>
              <a:gdLst/>
              <a:ahLst/>
              <a:cxnLst/>
              <a:rect l="l" t="t" r="r" b="b"/>
              <a:pathLst>
                <a:path w="5267221" h="1560391">
                  <a:moveTo>
                    <a:pt x="0" y="0"/>
                  </a:moveTo>
                  <a:lnTo>
                    <a:pt x="5267221" y="0"/>
                  </a:lnTo>
                  <a:lnTo>
                    <a:pt x="5267221" y="1560391"/>
                  </a:lnTo>
                  <a:lnTo>
                    <a:pt x="0" y="15603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267221" cy="15794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49"/>
                </a:lnSpc>
              </a:pPr>
              <a:r>
                <a:rPr lang="es-CL" sz="3874" b="1" noProof="0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Resultados Obtenidos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813207" y="4140447"/>
            <a:ext cx="6397344" cy="1510984"/>
            <a:chOff x="0" y="0"/>
            <a:chExt cx="5998780" cy="14168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277699" y="4140447"/>
            <a:ext cx="197094" cy="1510984"/>
            <a:chOff x="0" y="0"/>
            <a:chExt cx="184815" cy="14168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32955" y="4128690"/>
            <a:ext cx="5617180" cy="1664065"/>
            <a:chOff x="0" y="0"/>
            <a:chExt cx="5267221" cy="156039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267221" cy="1560391"/>
            </a:xfrm>
            <a:custGeom>
              <a:avLst/>
              <a:gdLst/>
              <a:ahLst/>
              <a:cxnLst/>
              <a:rect l="l" t="t" r="r" b="b"/>
              <a:pathLst>
                <a:path w="5267221" h="1560391">
                  <a:moveTo>
                    <a:pt x="0" y="0"/>
                  </a:moveTo>
                  <a:lnTo>
                    <a:pt x="5267221" y="0"/>
                  </a:lnTo>
                  <a:lnTo>
                    <a:pt x="5267221" y="1560391"/>
                  </a:lnTo>
                  <a:lnTo>
                    <a:pt x="0" y="15603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267221" cy="15794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49"/>
                </a:lnSpc>
              </a:pPr>
              <a:r>
                <a:rPr lang="es-CL" sz="3874" b="1" noProof="0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Lecciones Aprendidas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13207" y="6650974"/>
            <a:ext cx="6397344" cy="1510984"/>
            <a:chOff x="0" y="0"/>
            <a:chExt cx="5998780" cy="141684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277699" y="6650974"/>
            <a:ext cx="197094" cy="1510984"/>
            <a:chOff x="0" y="0"/>
            <a:chExt cx="184815" cy="14168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32955" y="6784603"/>
            <a:ext cx="6143290" cy="1433200"/>
            <a:chOff x="0" y="0"/>
            <a:chExt cx="5760554" cy="134390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760554" cy="1343909"/>
            </a:xfrm>
            <a:custGeom>
              <a:avLst/>
              <a:gdLst/>
              <a:ahLst/>
              <a:cxnLst/>
              <a:rect l="l" t="t" r="r" b="b"/>
              <a:pathLst>
                <a:path w="5760554" h="1343909">
                  <a:moveTo>
                    <a:pt x="0" y="0"/>
                  </a:moveTo>
                  <a:lnTo>
                    <a:pt x="5760554" y="0"/>
                  </a:lnTo>
                  <a:lnTo>
                    <a:pt x="5760554" y="1343909"/>
                  </a:lnTo>
                  <a:lnTo>
                    <a:pt x="0" y="13439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L" noProof="0" dirty="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5760554" cy="13724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09"/>
                </a:lnSpc>
              </a:pPr>
              <a:r>
                <a:rPr lang="es-CL" sz="3174" b="1" noProof="0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Obstáculos presentados durante el desarrollo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6340" y="3720129"/>
            <a:ext cx="6026400" cy="1423371"/>
            <a:chOff x="0" y="0"/>
            <a:chExt cx="5998780" cy="1416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98718" cy="1416812"/>
            </a:xfrm>
            <a:custGeom>
              <a:avLst/>
              <a:gdLst/>
              <a:ahLst/>
              <a:cxnLst/>
              <a:rect l="l" t="t" r="r" b="b"/>
              <a:pathLst>
                <a:path w="5998718" h="1416812">
                  <a:moveTo>
                    <a:pt x="0" y="0"/>
                  </a:moveTo>
                  <a:lnTo>
                    <a:pt x="5998718" y="0"/>
                  </a:lnTo>
                  <a:lnTo>
                    <a:pt x="5998718" y="1416812"/>
                  </a:lnTo>
                  <a:lnTo>
                    <a:pt x="0" y="1416812"/>
                  </a:lnTo>
                  <a:close/>
                </a:path>
              </a:pathLst>
            </a:custGeom>
            <a:solidFill>
              <a:srgbClr val="FFC00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095994" y="3720129"/>
            <a:ext cx="185666" cy="1423371"/>
            <a:chOff x="0" y="0"/>
            <a:chExt cx="184815" cy="141684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4404" cy="1416685"/>
            </a:xfrm>
            <a:custGeom>
              <a:avLst/>
              <a:gdLst/>
              <a:ahLst/>
              <a:cxnLst/>
              <a:rect l="l" t="t" r="r" b="b"/>
              <a:pathLst>
                <a:path w="184404" h="1416685">
                  <a:moveTo>
                    <a:pt x="92202" y="0"/>
                  </a:moveTo>
                  <a:lnTo>
                    <a:pt x="56388" y="381"/>
                  </a:lnTo>
                  <a:lnTo>
                    <a:pt x="27051" y="1651"/>
                  </a:lnTo>
                  <a:lnTo>
                    <a:pt x="7239" y="3429"/>
                  </a:lnTo>
                  <a:lnTo>
                    <a:pt x="0" y="5461"/>
                  </a:lnTo>
                  <a:lnTo>
                    <a:pt x="0" y="1411224"/>
                  </a:lnTo>
                  <a:lnTo>
                    <a:pt x="7239" y="1413383"/>
                  </a:lnTo>
                  <a:lnTo>
                    <a:pt x="27051" y="1415161"/>
                  </a:lnTo>
                  <a:lnTo>
                    <a:pt x="56388" y="1416304"/>
                  </a:lnTo>
                  <a:lnTo>
                    <a:pt x="92202" y="1416685"/>
                  </a:lnTo>
                  <a:lnTo>
                    <a:pt x="128016" y="1416304"/>
                  </a:lnTo>
                  <a:lnTo>
                    <a:pt x="157353" y="1415161"/>
                  </a:lnTo>
                  <a:lnTo>
                    <a:pt x="177165" y="1413383"/>
                  </a:lnTo>
                  <a:lnTo>
                    <a:pt x="184404" y="1411224"/>
                  </a:lnTo>
                  <a:lnTo>
                    <a:pt x="184404" y="5461"/>
                  </a:lnTo>
                  <a:lnTo>
                    <a:pt x="177165" y="3429"/>
                  </a:lnTo>
                  <a:lnTo>
                    <a:pt x="157353" y="1651"/>
                  </a:lnTo>
                  <a:lnTo>
                    <a:pt x="128016" y="381"/>
                  </a:lnTo>
                  <a:lnTo>
                    <a:pt x="92202" y="0"/>
                  </a:lnTo>
                  <a:close/>
                </a:path>
              </a:pathLst>
            </a:custGeom>
            <a:solidFill>
              <a:srgbClr val="1A1A1A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10667278" y="9505010"/>
            <a:ext cx="3469503" cy="299221"/>
          </a:xfrm>
          <a:custGeom>
            <a:avLst/>
            <a:gdLst/>
            <a:ahLst/>
            <a:cxnLst/>
            <a:rect l="l" t="t" r="r" b="b"/>
            <a:pathLst>
              <a:path w="3469503" h="299221">
                <a:moveTo>
                  <a:pt x="0" y="0"/>
                </a:moveTo>
                <a:lnTo>
                  <a:pt x="3469503" y="0"/>
                </a:lnTo>
                <a:lnTo>
                  <a:pt x="3469503" y="299221"/>
                </a:lnTo>
                <a:lnTo>
                  <a:pt x="0" y="2992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4418503" y="9301381"/>
            <a:ext cx="3411151" cy="634474"/>
            <a:chOff x="0" y="0"/>
            <a:chExt cx="4548201" cy="84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48251" cy="845947"/>
            </a:xfrm>
            <a:custGeom>
              <a:avLst/>
              <a:gdLst/>
              <a:ahLst/>
              <a:cxnLst/>
              <a:rect l="l" t="t" r="r" b="b"/>
              <a:pathLst>
                <a:path w="4548251" h="845947">
                  <a:moveTo>
                    <a:pt x="0" y="0"/>
                  </a:moveTo>
                  <a:lnTo>
                    <a:pt x="4548251" y="0"/>
                  </a:lnTo>
                  <a:lnTo>
                    <a:pt x="4548251" y="845947"/>
                  </a:lnTo>
                  <a:lnTo>
                    <a:pt x="0" y="845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-372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539902" y="4114023"/>
            <a:ext cx="5291473" cy="69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2"/>
              </a:lnSpc>
            </a:pPr>
            <a:r>
              <a:rPr lang="es-CL" sz="4385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Conclusión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35235" y="-717769"/>
            <a:ext cx="18308271" cy="11003867"/>
            <a:chOff x="0" y="0"/>
            <a:chExt cx="24411027" cy="146718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11051" cy="14671802"/>
            </a:xfrm>
            <a:custGeom>
              <a:avLst/>
              <a:gdLst/>
              <a:ahLst/>
              <a:cxnLst/>
              <a:rect l="l" t="t" r="r" b="b"/>
              <a:pathLst>
                <a:path w="24411051" h="14671802">
                  <a:moveTo>
                    <a:pt x="0" y="0"/>
                  </a:moveTo>
                  <a:lnTo>
                    <a:pt x="24411051" y="0"/>
                  </a:lnTo>
                  <a:lnTo>
                    <a:pt x="24411051" y="14671802"/>
                  </a:lnTo>
                  <a:lnTo>
                    <a:pt x="0" y="1467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7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0" y="0"/>
            <a:ext cx="18285111" cy="10286098"/>
            <a:chOff x="0" y="0"/>
            <a:chExt cx="24380148" cy="137147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0189" cy="13714857"/>
            </a:xfrm>
            <a:custGeom>
              <a:avLst/>
              <a:gdLst/>
              <a:ahLst/>
              <a:cxnLst/>
              <a:rect l="l" t="t" r="r" b="b"/>
              <a:pathLst>
                <a:path w="24380189" h="13714857">
                  <a:moveTo>
                    <a:pt x="0" y="0"/>
                  </a:moveTo>
                  <a:lnTo>
                    <a:pt x="24380189" y="0"/>
                  </a:lnTo>
                  <a:lnTo>
                    <a:pt x="24380189" y="13714857"/>
                  </a:lnTo>
                  <a:lnTo>
                    <a:pt x="0" y="1371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047" t="-99167" r="-2418" b="-58953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6" name="Freeform 6"/>
          <p:cNvSpPr/>
          <p:nvPr/>
        </p:nvSpPr>
        <p:spPr>
          <a:xfrm>
            <a:off x="7617834" y="9578604"/>
            <a:ext cx="3542567" cy="305522"/>
          </a:xfrm>
          <a:custGeom>
            <a:avLst/>
            <a:gdLst/>
            <a:ahLst/>
            <a:cxnLst/>
            <a:rect l="l" t="t" r="r" b="b"/>
            <a:pathLst>
              <a:path w="3542567" h="305522">
                <a:moveTo>
                  <a:pt x="0" y="0"/>
                </a:moveTo>
                <a:lnTo>
                  <a:pt x="3542568" y="0"/>
                </a:lnTo>
                <a:lnTo>
                  <a:pt x="3542568" y="305521"/>
                </a:lnTo>
                <a:lnTo>
                  <a:pt x="0" y="3055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 dirty="0"/>
          </a:p>
        </p:txBody>
      </p:sp>
      <p:grpSp>
        <p:nvGrpSpPr>
          <p:cNvPr id="7" name="Group 7"/>
          <p:cNvGrpSpPr/>
          <p:nvPr/>
        </p:nvGrpSpPr>
        <p:grpSpPr>
          <a:xfrm>
            <a:off x="4631981" y="7525390"/>
            <a:ext cx="9727033" cy="48514"/>
            <a:chOff x="0" y="0"/>
            <a:chExt cx="12969377" cy="64685"/>
          </a:xfrm>
        </p:grpSpPr>
        <p:sp>
          <p:nvSpPr>
            <p:cNvPr id="8" name="Freeform 8"/>
            <p:cNvSpPr/>
            <p:nvPr/>
          </p:nvSpPr>
          <p:spPr>
            <a:xfrm>
              <a:off x="0" y="-127"/>
              <a:ext cx="12968986" cy="64770"/>
            </a:xfrm>
            <a:custGeom>
              <a:avLst/>
              <a:gdLst/>
              <a:ahLst/>
              <a:cxnLst/>
              <a:rect l="l" t="t" r="r" b="b"/>
              <a:pathLst>
                <a:path w="12968986" h="64770">
                  <a:moveTo>
                    <a:pt x="12936601" y="127"/>
                  </a:moveTo>
                  <a:lnTo>
                    <a:pt x="32258" y="127"/>
                  </a:lnTo>
                  <a:lnTo>
                    <a:pt x="19685" y="2667"/>
                  </a:lnTo>
                  <a:lnTo>
                    <a:pt x="9525" y="9652"/>
                  </a:lnTo>
                  <a:lnTo>
                    <a:pt x="2540" y="19812"/>
                  </a:lnTo>
                  <a:lnTo>
                    <a:pt x="0" y="32385"/>
                  </a:lnTo>
                  <a:lnTo>
                    <a:pt x="2540" y="44958"/>
                  </a:lnTo>
                  <a:lnTo>
                    <a:pt x="9525" y="55245"/>
                  </a:lnTo>
                  <a:lnTo>
                    <a:pt x="19812" y="62230"/>
                  </a:lnTo>
                  <a:lnTo>
                    <a:pt x="32385" y="64770"/>
                  </a:lnTo>
                  <a:lnTo>
                    <a:pt x="12936601" y="64770"/>
                  </a:lnTo>
                  <a:lnTo>
                    <a:pt x="12949174" y="62230"/>
                  </a:lnTo>
                  <a:lnTo>
                    <a:pt x="12959461" y="55245"/>
                  </a:lnTo>
                  <a:lnTo>
                    <a:pt x="12966446" y="44958"/>
                  </a:lnTo>
                  <a:lnTo>
                    <a:pt x="12968986" y="32385"/>
                  </a:lnTo>
                  <a:lnTo>
                    <a:pt x="12966446" y="19812"/>
                  </a:lnTo>
                  <a:lnTo>
                    <a:pt x="12959461" y="9525"/>
                  </a:lnTo>
                  <a:lnTo>
                    <a:pt x="12949174" y="2540"/>
                  </a:lnTo>
                  <a:lnTo>
                    <a:pt x="1293660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31981" y="6574330"/>
            <a:ext cx="9727033" cy="951060"/>
            <a:chOff x="0" y="0"/>
            <a:chExt cx="12969377" cy="126808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968859" cy="1267841"/>
            </a:xfrm>
            <a:custGeom>
              <a:avLst/>
              <a:gdLst/>
              <a:ahLst/>
              <a:cxnLst/>
              <a:rect l="l" t="t" r="r" b="b"/>
              <a:pathLst>
                <a:path w="12968859" h="1267841">
                  <a:moveTo>
                    <a:pt x="12968859" y="0"/>
                  </a:moveTo>
                  <a:lnTo>
                    <a:pt x="0" y="0"/>
                  </a:lnTo>
                  <a:lnTo>
                    <a:pt x="0" y="1267841"/>
                  </a:lnTo>
                  <a:lnTo>
                    <a:pt x="12968859" y="1267841"/>
                  </a:lnTo>
                  <a:lnTo>
                    <a:pt x="12968859" y="0"/>
                  </a:lnTo>
                  <a:close/>
                </a:path>
              </a:pathLst>
            </a:custGeom>
            <a:solidFill>
              <a:srgbClr val="FEB62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839035" y="8111554"/>
            <a:ext cx="5370687" cy="1328438"/>
            <a:chOff x="0" y="0"/>
            <a:chExt cx="7160915" cy="17712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60895" cy="1771269"/>
            </a:xfrm>
            <a:custGeom>
              <a:avLst/>
              <a:gdLst/>
              <a:ahLst/>
              <a:cxnLst/>
              <a:rect l="l" t="t" r="r" b="b"/>
              <a:pathLst>
                <a:path w="7160895" h="1771269">
                  <a:moveTo>
                    <a:pt x="0" y="0"/>
                  </a:moveTo>
                  <a:lnTo>
                    <a:pt x="7160895" y="0"/>
                  </a:lnTo>
                  <a:lnTo>
                    <a:pt x="7160895" y="1771269"/>
                  </a:lnTo>
                  <a:lnTo>
                    <a:pt x="0" y="1771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171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-11551" y="6519928"/>
            <a:ext cx="18285113" cy="1292680"/>
            <a:chOff x="0" y="0"/>
            <a:chExt cx="24380151" cy="172357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0189" cy="1723517"/>
            </a:xfrm>
            <a:custGeom>
              <a:avLst/>
              <a:gdLst/>
              <a:ahLst/>
              <a:cxnLst/>
              <a:rect l="l" t="t" r="r" b="b"/>
              <a:pathLst>
                <a:path w="24380189" h="1723517">
                  <a:moveTo>
                    <a:pt x="0" y="0"/>
                  </a:moveTo>
                  <a:lnTo>
                    <a:pt x="24380189" y="0"/>
                  </a:lnTo>
                  <a:lnTo>
                    <a:pt x="24380189" y="1723517"/>
                  </a:lnTo>
                  <a:lnTo>
                    <a:pt x="0" y="1723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004" b="-2007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58984" y="-1399458"/>
            <a:ext cx="4387668" cy="4387668"/>
            <a:chOff x="0" y="0"/>
            <a:chExt cx="5850225" cy="58502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850255" cy="5850255"/>
            </a:xfrm>
            <a:custGeom>
              <a:avLst/>
              <a:gdLst/>
              <a:ahLst/>
              <a:cxnLst/>
              <a:rect l="l" t="t" r="r" b="b"/>
              <a:pathLst>
                <a:path w="5850255" h="5850255">
                  <a:moveTo>
                    <a:pt x="0" y="0"/>
                  </a:moveTo>
                  <a:lnTo>
                    <a:pt x="5850255" y="0"/>
                  </a:lnTo>
                  <a:lnTo>
                    <a:pt x="5850255" y="5850255"/>
                  </a:lnTo>
                  <a:lnTo>
                    <a:pt x="0" y="585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3969" b="3970"/>
              </a:stretch>
            </a:blipFill>
          </p:spPr>
          <p:txBody>
            <a:bodyPr/>
            <a:lstStyle/>
            <a:p>
              <a:endParaRPr lang="es-CL" noProof="0" dirty="0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297952" y="6717756"/>
            <a:ext cx="13689209" cy="868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8"/>
              </a:lnSpc>
            </a:pPr>
            <a:r>
              <a:rPr lang="es-CL" sz="5457" b="1" noProof="0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¡MUCHAS GRACIAS POR SU ATENCION!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43473" y="6717745"/>
            <a:ext cx="13689209" cy="868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48"/>
              </a:lnSpc>
            </a:pPr>
            <a:r>
              <a:rPr lang="es-CL" sz="5457" b="1" noProof="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¡MUCHAS GRACIAS POR SU ATENCION!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926</Words>
  <Application>Microsoft Office PowerPoint</Application>
  <PresentationFormat>Personalizado</PresentationFormat>
  <Paragraphs>204</Paragraphs>
  <Slides>25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5" baseType="lpstr">
      <vt:lpstr>Calibri (MS)</vt:lpstr>
      <vt:lpstr>Open Sans Bold</vt:lpstr>
      <vt:lpstr>Calibri</vt:lpstr>
      <vt:lpstr>Open Sans</vt:lpstr>
      <vt:lpstr>Arial</vt:lpstr>
      <vt:lpstr>Calibri (MS) Bold</vt:lpstr>
      <vt:lpstr>Comic Sans</vt:lpstr>
      <vt:lpstr>Arial Bold</vt:lpstr>
      <vt:lpstr>Calibri (MS) Bold Italics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Final del proyecto (español).pptx</dc:title>
  <dc:creator>Noir</dc:creator>
  <cp:lastModifiedBy>SEBASTIAN LISANDRO MIRANDA ACUNA</cp:lastModifiedBy>
  <cp:revision>3</cp:revision>
  <dcterms:created xsi:type="dcterms:W3CDTF">2006-08-16T00:00:00Z</dcterms:created>
  <dcterms:modified xsi:type="dcterms:W3CDTF">2025-12-04T07:15:43Z</dcterms:modified>
  <dc:identifier>DAG5vpyL_00</dc:identifier>
</cp:coreProperties>
</file>